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0.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1.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828" r:id="rId1"/>
  </p:sldMasterIdLst>
  <p:notesMasterIdLst>
    <p:notesMasterId r:id="rId18"/>
  </p:notesMasterIdLst>
  <p:sldIdLst>
    <p:sldId id="256" r:id="rId2"/>
    <p:sldId id="257" r:id="rId3"/>
    <p:sldId id="258" r:id="rId4"/>
    <p:sldId id="275" r:id="rId5"/>
    <p:sldId id="259" r:id="rId6"/>
    <p:sldId id="260" r:id="rId7"/>
    <p:sldId id="261" r:id="rId8"/>
    <p:sldId id="263" r:id="rId9"/>
    <p:sldId id="276" r:id="rId10"/>
    <p:sldId id="266" r:id="rId11"/>
    <p:sldId id="278" r:id="rId12"/>
    <p:sldId id="267" r:id="rId13"/>
    <p:sldId id="269" r:id="rId14"/>
    <p:sldId id="272" r:id="rId15"/>
    <p:sldId id="273" r:id="rId16"/>
    <p:sldId id="279" r:id="rId17"/>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89" d="100"/>
          <a:sy n="189" d="100"/>
        </p:scale>
        <p:origin x="108" y="31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_rels/data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image" Target="../media/image13.svg"/><Relationship Id="rId5" Type="http://schemas.openxmlformats.org/officeDocument/2006/relationships/image" Target="../media/image17.svg"/><Relationship Id="rId4" Type="http://schemas.openxmlformats.org/officeDocument/2006/relationships/image" Target="../media/image16.svg"/></Relationships>
</file>

<file path=ppt/diagrams/_rels/drawing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image" Target="../media/image13.svg"/><Relationship Id="rId5" Type="http://schemas.openxmlformats.org/officeDocument/2006/relationships/image" Target="../media/image17.svg"/><Relationship Id="rId4" Type="http://schemas.openxmlformats.org/officeDocument/2006/relationships/image" Target="../media/image16.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214932F-4D3B-42F3-A4FD-7D8DC2D31AA0}" type="doc">
      <dgm:prSet loTypeId="urn:microsoft.com/office/officeart/2005/8/layout/hProcess9" loCatId="process" qsTypeId="urn:microsoft.com/office/officeart/2005/8/quickstyle/simple5" qsCatId="simple" csTypeId="urn:microsoft.com/office/officeart/2005/8/colors/accent2_2" csCatId="accent2" phldr="1"/>
      <dgm:spPr/>
      <dgm:t>
        <a:bodyPr/>
        <a:lstStyle/>
        <a:p>
          <a:endParaRPr lang="en-IN"/>
        </a:p>
      </dgm:t>
    </dgm:pt>
    <dgm:pt modelId="{D6DA1F85-7F91-4B76-BF58-14D0C6592435}">
      <dgm:prSet custT="1"/>
      <dgm:spPr/>
      <dgm:t>
        <a:bodyPr/>
        <a:lstStyle/>
        <a:p>
          <a:r>
            <a:rPr lang="en-US" sz="900" dirty="0"/>
            <a:t>The chart clearly shows a wide variation in customer satisfaction across gurus. A few gurus consistently achieve high ratings (above 7), while some have significantly lower ratings. This indicates differences in service quality and highlights top-performing and underperforming agents</a:t>
          </a:r>
          <a:r>
            <a:rPr lang="en-US" sz="1300" dirty="0"/>
            <a:t>.</a:t>
          </a:r>
          <a:endParaRPr lang="en-IN" sz="1300" dirty="0"/>
        </a:p>
      </dgm:t>
    </dgm:pt>
    <dgm:pt modelId="{DFC2EE78-844A-4986-8577-895075B3270E}" type="parTrans" cxnId="{E95EC34D-B372-4F6A-9C96-147B2A47190E}">
      <dgm:prSet/>
      <dgm:spPr/>
      <dgm:t>
        <a:bodyPr/>
        <a:lstStyle/>
        <a:p>
          <a:endParaRPr lang="en-IN"/>
        </a:p>
      </dgm:t>
    </dgm:pt>
    <dgm:pt modelId="{3A272A8D-BD1A-43F4-B1CC-BDB5DD748EE1}" type="sibTrans" cxnId="{E95EC34D-B372-4F6A-9C96-147B2A47190E}">
      <dgm:prSet/>
      <dgm:spPr/>
      <dgm:t>
        <a:bodyPr/>
        <a:lstStyle/>
        <a:p>
          <a:endParaRPr lang="en-IN"/>
        </a:p>
      </dgm:t>
    </dgm:pt>
    <dgm:pt modelId="{398FB57C-CC9A-4A9B-8878-653BF2B99AF6}" type="pres">
      <dgm:prSet presAssocID="{2214932F-4D3B-42F3-A4FD-7D8DC2D31AA0}" presName="CompostProcess" presStyleCnt="0">
        <dgm:presLayoutVars>
          <dgm:dir/>
          <dgm:resizeHandles val="exact"/>
        </dgm:presLayoutVars>
      </dgm:prSet>
      <dgm:spPr/>
    </dgm:pt>
    <dgm:pt modelId="{EEC5D410-D0B9-4109-9365-A44D8D87B705}" type="pres">
      <dgm:prSet presAssocID="{2214932F-4D3B-42F3-A4FD-7D8DC2D31AA0}" presName="arrow" presStyleLbl="bgShp" presStyleIdx="0" presStyleCnt="1"/>
      <dgm:spPr/>
    </dgm:pt>
    <dgm:pt modelId="{B3267988-28F3-4CD3-969D-CC012A16712B}" type="pres">
      <dgm:prSet presAssocID="{2214932F-4D3B-42F3-A4FD-7D8DC2D31AA0}" presName="linearProcess" presStyleCnt="0"/>
      <dgm:spPr/>
    </dgm:pt>
    <dgm:pt modelId="{2ED34C04-DE40-4F7D-864E-B1484A092F02}" type="pres">
      <dgm:prSet presAssocID="{D6DA1F85-7F91-4B76-BF58-14D0C6592435}" presName="textNode" presStyleLbl="node1" presStyleIdx="0" presStyleCnt="1" custScaleX="139293" custLinFactNeighborX="-13887" custLinFactNeighborY="1384">
        <dgm:presLayoutVars>
          <dgm:bulletEnabled val="1"/>
        </dgm:presLayoutVars>
      </dgm:prSet>
      <dgm:spPr/>
    </dgm:pt>
  </dgm:ptLst>
  <dgm:cxnLst>
    <dgm:cxn modelId="{B83FEE4B-DFFE-4C0B-AE77-2770F3C83B28}" type="presOf" srcId="{D6DA1F85-7F91-4B76-BF58-14D0C6592435}" destId="{2ED34C04-DE40-4F7D-864E-B1484A092F02}" srcOrd="0" destOrd="0" presId="urn:microsoft.com/office/officeart/2005/8/layout/hProcess9"/>
    <dgm:cxn modelId="{E95EC34D-B372-4F6A-9C96-147B2A47190E}" srcId="{2214932F-4D3B-42F3-A4FD-7D8DC2D31AA0}" destId="{D6DA1F85-7F91-4B76-BF58-14D0C6592435}" srcOrd="0" destOrd="0" parTransId="{DFC2EE78-844A-4986-8577-895075B3270E}" sibTransId="{3A272A8D-BD1A-43F4-B1CC-BDB5DD748EE1}"/>
    <dgm:cxn modelId="{CE620B53-19EA-4E05-8BE7-C907FAA9AE3E}" type="presOf" srcId="{2214932F-4D3B-42F3-A4FD-7D8DC2D31AA0}" destId="{398FB57C-CC9A-4A9B-8878-653BF2B99AF6}" srcOrd="0" destOrd="0" presId="urn:microsoft.com/office/officeart/2005/8/layout/hProcess9"/>
    <dgm:cxn modelId="{68ED610B-FB07-473F-8865-AB7EC01CF432}" type="presParOf" srcId="{398FB57C-CC9A-4A9B-8878-653BF2B99AF6}" destId="{EEC5D410-D0B9-4109-9365-A44D8D87B705}" srcOrd="0" destOrd="0" presId="urn:microsoft.com/office/officeart/2005/8/layout/hProcess9"/>
    <dgm:cxn modelId="{C63CA2C0-C9ED-49D6-A121-9F70A59F24BF}" type="presParOf" srcId="{398FB57C-CC9A-4A9B-8878-653BF2B99AF6}" destId="{B3267988-28F3-4CD3-969D-CC012A16712B}" srcOrd="1" destOrd="0" presId="urn:microsoft.com/office/officeart/2005/8/layout/hProcess9"/>
    <dgm:cxn modelId="{195F2EBE-907B-404C-93CF-A2380D317D0F}" type="presParOf" srcId="{B3267988-28F3-4CD3-969D-CC012A16712B}" destId="{2ED34C04-DE40-4F7D-864E-B1484A092F02}" srcOrd="0"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0EF3619-1EEB-4889-BA1A-7C9981FABA64}" type="doc">
      <dgm:prSet loTypeId="urn:microsoft.com/office/officeart/2005/8/layout/chevron2" loCatId="process" qsTypeId="urn:microsoft.com/office/officeart/2005/8/quickstyle/simple1" qsCatId="simple" csTypeId="urn:microsoft.com/office/officeart/2005/8/colors/accent1_3" csCatId="accent1"/>
      <dgm:spPr/>
      <dgm:t>
        <a:bodyPr/>
        <a:lstStyle/>
        <a:p>
          <a:endParaRPr lang="en-IN"/>
        </a:p>
      </dgm:t>
    </dgm:pt>
    <dgm:pt modelId="{632C14F6-F8FC-4246-83CE-3B582CC47994}">
      <dgm:prSet custT="1"/>
      <dgm:spPr/>
      <dgm:t>
        <a:bodyPr/>
        <a:lstStyle/>
        <a:p>
          <a:r>
            <a:rPr lang="en-US" sz="900" dirty="0"/>
            <a:t>The </a:t>
          </a:r>
          <a:r>
            <a:rPr lang="en-US" sz="900" b="1" dirty="0"/>
            <a:t>Call category dominates revenue generation</a:t>
          </a:r>
          <a:r>
            <a:rPr lang="en-US" sz="900" dirty="0"/>
            <a:t>, contributing significantly more than other categories. Chat contributes a moderate share, while Complementary and Public Live Call generate negligible revenue. This indicates that the platform’s primary revenue driver is call-based consultations.</a:t>
          </a:r>
          <a:endParaRPr lang="en-IN" sz="900" dirty="0"/>
        </a:p>
      </dgm:t>
    </dgm:pt>
    <dgm:pt modelId="{4789C0F7-3E84-46B6-AEBB-4BD018939BDD}" type="parTrans" cxnId="{1F7F3C55-9CD0-476A-BD52-8DCB20FA5B0B}">
      <dgm:prSet/>
      <dgm:spPr/>
      <dgm:t>
        <a:bodyPr/>
        <a:lstStyle/>
        <a:p>
          <a:endParaRPr lang="en-IN"/>
        </a:p>
      </dgm:t>
    </dgm:pt>
    <dgm:pt modelId="{EAA56BC5-E0C7-4891-ADB2-B5067618125C}" type="sibTrans" cxnId="{1F7F3C55-9CD0-476A-BD52-8DCB20FA5B0B}">
      <dgm:prSet/>
      <dgm:spPr/>
      <dgm:t>
        <a:bodyPr/>
        <a:lstStyle/>
        <a:p>
          <a:endParaRPr lang="en-IN"/>
        </a:p>
      </dgm:t>
    </dgm:pt>
    <dgm:pt modelId="{AC7EC921-3546-4FEC-9D8F-8A960CCAE932}" type="pres">
      <dgm:prSet presAssocID="{30EF3619-1EEB-4889-BA1A-7C9981FABA64}" presName="linearFlow" presStyleCnt="0">
        <dgm:presLayoutVars>
          <dgm:dir/>
          <dgm:animLvl val="lvl"/>
          <dgm:resizeHandles val="exact"/>
        </dgm:presLayoutVars>
      </dgm:prSet>
      <dgm:spPr/>
    </dgm:pt>
    <dgm:pt modelId="{717C95F7-A5A1-4AAB-88B7-62F52AFF3DFF}" type="pres">
      <dgm:prSet presAssocID="{632C14F6-F8FC-4246-83CE-3B582CC47994}" presName="composite" presStyleCnt="0"/>
      <dgm:spPr/>
    </dgm:pt>
    <dgm:pt modelId="{1C93D7D9-90A3-477A-AFE8-CD2D742119C8}" type="pres">
      <dgm:prSet presAssocID="{632C14F6-F8FC-4246-83CE-3B582CC47994}" presName="parentText" presStyleLbl="alignNode1" presStyleIdx="0" presStyleCnt="1">
        <dgm:presLayoutVars>
          <dgm:chMax val="1"/>
          <dgm:bulletEnabled val="1"/>
        </dgm:presLayoutVars>
      </dgm:prSet>
      <dgm:spPr/>
    </dgm:pt>
    <dgm:pt modelId="{1C87DCCC-58A6-40A6-8269-A28F1D4500C9}" type="pres">
      <dgm:prSet presAssocID="{632C14F6-F8FC-4246-83CE-3B582CC47994}" presName="descendantText" presStyleLbl="alignAcc1" presStyleIdx="0" presStyleCnt="1" custLinFactNeighborX="48967" custLinFactNeighborY="-791">
        <dgm:presLayoutVars>
          <dgm:bulletEnabled val="1"/>
        </dgm:presLayoutVars>
      </dgm:prSet>
      <dgm:spPr/>
    </dgm:pt>
  </dgm:ptLst>
  <dgm:cxnLst>
    <dgm:cxn modelId="{1F7F3C55-9CD0-476A-BD52-8DCB20FA5B0B}" srcId="{30EF3619-1EEB-4889-BA1A-7C9981FABA64}" destId="{632C14F6-F8FC-4246-83CE-3B582CC47994}" srcOrd="0" destOrd="0" parTransId="{4789C0F7-3E84-46B6-AEBB-4BD018939BDD}" sibTransId="{EAA56BC5-E0C7-4891-ADB2-B5067618125C}"/>
    <dgm:cxn modelId="{43DBD5CB-8260-4E29-B058-4C0198642022}" type="presOf" srcId="{632C14F6-F8FC-4246-83CE-3B582CC47994}" destId="{1C93D7D9-90A3-477A-AFE8-CD2D742119C8}" srcOrd="0" destOrd="0" presId="urn:microsoft.com/office/officeart/2005/8/layout/chevron2"/>
    <dgm:cxn modelId="{0CE18ACF-02FF-4E6E-8449-A2E5929BC7DC}" type="presOf" srcId="{30EF3619-1EEB-4889-BA1A-7C9981FABA64}" destId="{AC7EC921-3546-4FEC-9D8F-8A960CCAE932}" srcOrd="0" destOrd="0" presId="urn:microsoft.com/office/officeart/2005/8/layout/chevron2"/>
    <dgm:cxn modelId="{A94DC82B-8809-4C2B-8F41-73A928DB97E7}" type="presParOf" srcId="{AC7EC921-3546-4FEC-9D8F-8A960CCAE932}" destId="{717C95F7-A5A1-4AAB-88B7-62F52AFF3DFF}" srcOrd="0" destOrd="0" presId="urn:microsoft.com/office/officeart/2005/8/layout/chevron2"/>
    <dgm:cxn modelId="{A40CE836-AC35-4AA5-A9D0-D6559EFE7CC0}" type="presParOf" srcId="{717C95F7-A5A1-4AAB-88B7-62F52AFF3DFF}" destId="{1C93D7D9-90A3-477A-AFE8-CD2D742119C8}" srcOrd="0" destOrd="0" presId="urn:microsoft.com/office/officeart/2005/8/layout/chevron2"/>
    <dgm:cxn modelId="{06C3C3A0-4532-49C1-9841-DED2844D4D1D}" type="presParOf" srcId="{717C95F7-A5A1-4AAB-88B7-62F52AFF3DFF}" destId="{1C87DCCC-58A6-40A6-8269-A28F1D4500C9}"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F24AB6D-10EB-4424-A462-36F6DFA0D63A}" type="doc">
      <dgm:prSet loTypeId="urn:microsoft.com/office/officeart/2009/3/layout/RandomtoResultProcess" loCatId="process" qsTypeId="urn:microsoft.com/office/officeart/2005/8/quickstyle/3d4" qsCatId="3D" csTypeId="urn:microsoft.com/office/officeart/2005/8/colors/accent1_5" csCatId="accent1" phldr="1"/>
      <dgm:spPr/>
      <dgm:t>
        <a:bodyPr/>
        <a:lstStyle/>
        <a:p>
          <a:endParaRPr lang="en-IN"/>
        </a:p>
      </dgm:t>
    </dgm:pt>
    <dgm:pt modelId="{B451240B-A3B5-47F0-8AC7-B75F8BC86740}">
      <dgm:prSet custT="1"/>
      <dgm:spPr/>
      <dgm:t>
        <a:bodyPr/>
        <a:lstStyle/>
        <a:p>
          <a:r>
            <a:rPr lang="en-US" sz="900" b="0" i="0" dirty="0"/>
            <a:t>Having a breakdown of call and chat statuses gives a clear view of how customer interactions move through the process, from when they start to when they end. This makes it easier to spot where customers stop engaging, like when they’re busy, the call fails, or they don’t answer. With this information, you can make specific changes to improve the process, boost completion rates, and make operations more efficient.</a:t>
          </a:r>
          <a:endParaRPr lang="en-IN" sz="900" b="0" dirty="0"/>
        </a:p>
      </dgm:t>
    </dgm:pt>
    <dgm:pt modelId="{D7CBC2E0-6776-4131-BAC1-BAA3D2E4BA1F}" type="parTrans" cxnId="{EC09E350-00E8-4E44-AEF8-0A08F5B38DAF}">
      <dgm:prSet/>
      <dgm:spPr/>
      <dgm:t>
        <a:bodyPr/>
        <a:lstStyle/>
        <a:p>
          <a:endParaRPr lang="en-IN"/>
        </a:p>
      </dgm:t>
    </dgm:pt>
    <dgm:pt modelId="{B10E385C-7166-49DA-86B4-07B2BC6E3E46}" type="sibTrans" cxnId="{EC09E350-00E8-4E44-AEF8-0A08F5B38DAF}">
      <dgm:prSet/>
      <dgm:spPr/>
      <dgm:t>
        <a:bodyPr/>
        <a:lstStyle/>
        <a:p>
          <a:endParaRPr lang="en-IN"/>
        </a:p>
      </dgm:t>
    </dgm:pt>
    <dgm:pt modelId="{23C04065-B0FD-4AC7-AC86-1EA42F012EC8}" type="pres">
      <dgm:prSet presAssocID="{AF24AB6D-10EB-4424-A462-36F6DFA0D63A}" presName="Name0" presStyleCnt="0">
        <dgm:presLayoutVars>
          <dgm:dir/>
          <dgm:animOne val="branch"/>
          <dgm:animLvl val="lvl"/>
        </dgm:presLayoutVars>
      </dgm:prSet>
      <dgm:spPr/>
    </dgm:pt>
    <dgm:pt modelId="{F744340B-FDEB-496B-AB87-5412962269C2}" type="pres">
      <dgm:prSet presAssocID="{B451240B-A3B5-47F0-8AC7-B75F8BC86740}" presName="chaos" presStyleCnt="0"/>
      <dgm:spPr/>
    </dgm:pt>
    <dgm:pt modelId="{CB1047FD-69CF-457F-B14B-5ABEF195FA89}" type="pres">
      <dgm:prSet presAssocID="{B451240B-A3B5-47F0-8AC7-B75F8BC86740}" presName="parTx1" presStyleLbl="revTx" presStyleIdx="0" presStyleCnt="1" custScaleX="107134" custLinFactNeighborX="-2853" custLinFactNeighborY="-4040"/>
      <dgm:spPr/>
    </dgm:pt>
    <dgm:pt modelId="{6D2A442E-48AF-43DB-ACDC-36A32FAEBDA0}" type="pres">
      <dgm:prSet presAssocID="{B451240B-A3B5-47F0-8AC7-B75F8BC86740}" presName="c1" presStyleLbl="node1" presStyleIdx="0" presStyleCnt="18"/>
      <dgm:spPr/>
    </dgm:pt>
    <dgm:pt modelId="{953E6088-4680-4CED-8D31-7AE68F3AB537}" type="pres">
      <dgm:prSet presAssocID="{B451240B-A3B5-47F0-8AC7-B75F8BC86740}" presName="c2" presStyleLbl="node1" presStyleIdx="1" presStyleCnt="18"/>
      <dgm:spPr/>
    </dgm:pt>
    <dgm:pt modelId="{12F3D3CA-4BE8-406E-A5AD-20786A8BE46A}" type="pres">
      <dgm:prSet presAssocID="{B451240B-A3B5-47F0-8AC7-B75F8BC86740}" presName="c3" presStyleLbl="node1" presStyleIdx="2" presStyleCnt="18"/>
      <dgm:spPr/>
    </dgm:pt>
    <dgm:pt modelId="{86495BF9-CA15-42D7-9B45-5364A56E9FCD}" type="pres">
      <dgm:prSet presAssocID="{B451240B-A3B5-47F0-8AC7-B75F8BC86740}" presName="c4" presStyleLbl="node1" presStyleIdx="3" presStyleCnt="18"/>
      <dgm:spPr/>
    </dgm:pt>
    <dgm:pt modelId="{EBAB9608-2274-480F-A98E-B04A1D5B9162}" type="pres">
      <dgm:prSet presAssocID="{B451240B-A3B5-47F0-8AC7-B75F8BC86740}" presName="c5" presStyleLbl="node1" presStyleIdx="4" presStyleCnt="18"/>
      <dgm:spPr/>
    </dgm:pt>
    <dgm:pt modelId="{5E4AC80D-EE75-449D-8D45-7B1B8573254F}" type="pres">
      <dgm:prSet presAssocID="{B451240B-A3B5-47F0-8AC7-B75F8BC86740}" presName="c6" presStyleLbl="node1" presStyleIdx="5" presStyleCnt="18"/>
      <dgm:spPr/>
    </dgm:pt>
    <dgm:pt modelId="{94B717FF-292C-49E0-8DB1-AA4C2827927A}" type="pres">
      <dgm:prSet presAssocID="{B451240B-A3B5-47F0-8AC7-B75F8BC86740}" presName="c7" presStyleLbl="node1" presStyleIdx="6" presStyleCnt="18"/>
      <dgm:spPr/>
    </dgm:pt>
    <dgm:pt modelId="{053C364F-CF08-4CDE-B2EE-F402185253D0}" type="pres">
      <dgm:prSet presAssocID="{B451240B-A3B5-47F0-8AC7-B75F8BC86740}" presName="c8" presStyleLbl="node1" presStyleIdx="7" presStyleCnt="18"/>
      <dgm:spPr/>
    </dgm:pt>
    <dgm:pt modelId="{64E6FAD8-EE3C-416A-99D5-28911B8B4D97}" type="pres">
      <dgm:prSet presAssocID="{B451240B-A3B5-47F0-8AC7-B75F8BC86740}" presName="c9" presStyleLbl="node1" presStyleIdx="8" presStyleCnt="18" custLinFactNeighborX="65040" custLinFactNeighborY="-27499"/>
      <dgm:spPr/>
    </dgm:pt>
    <dgm:pt modelId="{7D389DFF-94C4-4BD3-ACB4-06659825490F}" type="pres">
      <dgm:prSet presAssocID="{B451240B-A3B5-47F0-8AC7-B75F8BC86740}" presName="c10" presStyleLbl="node1" presStyleIdx="9" presStyleCnt="18"/>
      <dgm:spPr/>
    </dgm:pt>
    <dgm:pt modelId="{358649D4-5364-4BF5-982F-56F6AA93DAE6}" type="pres">
      <dgm:prSet presAssocID="{B451240B-A3B5-47F0-8AC7-B75F8BC86740}" presName="c11" presStyleLbl="node1" presStyleIdx="10" presStyleCnt="18" custLinFactNeighborX="-75324" custLinFactNeighborY="27498"/>
      <dgm:spPr/>
    </dgm:pt>
    <dgm:pt modelId="{CA96DC16-552A-4B52-BB5E-4AF6770ED141}" type="pres">
      <dgm:prSet presAssocID="{B451240B-A3B5-47F0-8AC7-B75F8BC86740}" presName="c12" presStyleLbl="node1" presStyleIdx="11" presStyleCnt="18"/>
      <dgm:spPr/>
    </dgm:pt>
    <dgm:pt modelId="{B6BC3B07-998A-45C1-989D-9C7E42B4F095}" type="pres">
      <dgm:prSet presAssocID="{B451240B-A3B5-47F0-8AC7-B75F8BC86740}" presName="c13" presStyleLbl="node1" presStyleIdx="12" presStyleCnt="18"/>
      <dgm:spPr/>
    </dgm:pt>
    <dgm:pt modelId="{255A065F-05F7-4DF2-BD4A-6A8D1E28D457}" type="pres">
      <dgm:prSet presAssocID="{B451240B-A3B5-47F0-8AC7-B75F8BC86740}" presName="c14" presStyleLbl="node1" presStyleIdx="13" presStyleCnt="18"/>
      <dgm:spPr/>
    </dgm:pt>
    <dgm:pt modelId="{2E7A3F33-000D-4493-992E-7516C5ADA46D}" type="pres">
      <dgm:prSet presAssocID="{B451240B-A3B5-47F0-8AC7-B75F8BC86740}" presName="c15" presStyleLbl="node1" presStyleIdx="14" presStyleCnt="18"/>
      <dgm:spPr/>
    </dgm:pt>
    <dgm:pt modelId="{4F07F66A-410A-4AAB-8E48-8620257FD7AB}" type="pres">
      <dgm:prSet presAssocID="{B451240B-A3B5-47F0-8AC7-B75F8BC86740}" presName="c16" presStyleLbl="node1" presStyleIdx="15" presStyleCnt="18"/>
      <dgm:spPr/>
    </dgm:pt>
    <dgm:pt modelId="{5757EA0E-2522-4668-AE02-F508B7D930AF}" type="pres">
      <dgm:prSet presAssocID="{B451240B-A3B5-47F0-8AC7-B75F8BC86740}" presName="c17" presStyleLbl="node1" presStyleIdx="16" presStyleCnt="18"/>
      <dgm:spPr/>
    </dgm:pt>
    <dgm:pt modelId="{2D0271D5-183C-4756-9FFB-CE4101D9C7C1}" type="pres">
      <dgm:prSet presAssocID="{B451240B-A3B5-47F0-8AC7-B75F8BC86740}" presName="c18" presStyleLbl="node1" presStyleIdx="17" presStyleCnt="18"/>
      <dgm:spPr/>
    </dgm:pt>
  </dgm:ptLst>
  <dgm:cxnLst>
    <dgm:cxn modelId="{4B1D953D-D734-478B-A6A6-C3EC20327A3B}" type="presOf" srcId="{AF24AB6D-10EB-4424-A462-36F6DFA0D63A}" destId="{23C04065-B0FD-4AC7-AC86-1EA42F012EC8}" srcOrd="0" destOrd="0" presId="urn:microsoft.com/office/officeart/2009/3/layout/RandomtoResultProcess"/>
    <dgm:cxn modelId="{EC09E350-00E8-4E44-AEF8-0A08F5B38DAF}" srcId="{AF24AB6D-10EB-4424-A462-36F6DFA0D63A}" destId="{B451240B-A3B5-47F0-8AC7-B75F8BC86740}" srcOrd="0" destOrd="0" parTransId="{D7CBC2E0-6776-4131-BAC1-BAA3D2E4BA1F}" sibTransId="{B10E385C-7166-49DA-86B4-07B2BC6E3E46}"/>
    <dgm:cxn modelId="{F2631CE1-B6CF-46BE-9FB5-0D955D6146A0}" type="presOf" srcId="{B451240B-A3B5-47F0-8AC7-B75F8BC86740}" destId="{CB1047FD-69CF-457F-B14B-5ABEF195FA89}" srcOrd="0" destOrd="0" presId="urn:microsoft.com/office/officeart/2009/3/layout/RandomtoResultProcess"/>
    <dgm:cxn modelId="{C9EBCF4A-199A-47E4-AFED-ECABFD902A74}" type="presParOf" srcId="{23C04065-B0FD-4AC7-AC86-1EA42F012EC8}" destId="{F744340B-FDEB-496B-AB87-5412962269C2}" srcOrd="0" destOrd="0" presId="urn:microsoft.com/office/officeart/2009/3/layout/RandomtoResultProcess"/>
    <dgm:cxn modelId="{15F2B724-F559-4D45-BA37-D747D9F54E39}" type="presParOf" srcId="{F744340B-FDEB-496B-AB87-5412962269C2}" destId="{CB1047FD-69CF-457F-B14B-5ABEF195FA89}" srcOrd="0" destOrd="0" presId="urn:microsoft.com/office/officeart/2009/3/layout/RandomtoResultProcess"/>
    <dgm:cxn modelId="{65A7B478-778A-4C29-A133-64615AD77DA8}" type="presParOf" srcId="{F744340B-FDEB-496B-AB87-5412962269C2}" destId="{6D2A442E-48AF-43DB-ACDC-36A32FAEBDA0}" srcOrd="1" destOrd="0" presId="urn:microsoft.com/office/officeart/2009/3/layout/RandomtoResultProcess"/>
    <dgm:cxn modelId="{677F6040-63B1-47DD-A4BD-DD50DC6B06D4}" type="presParOf" srcId="{F744340B-FDEB-496B-AB87-5412962269C2}" destId="{953E6088-4680-4CED-8D31-7AE68F3AB537}" srcOrd="2" destOrd="0" presId="urn:microsoft.com/office/officeart/2009/3/layout/RandomtoResultProcess"/>
    <dgm:cxn modelId="{429F259F-4920-4B67-9CB4-DAECA6853749}" type="presParOf" srcId="{F744340B-FDEB-496B-AB87-5412962269C2}" destId="{12F3D3CA-4BE8-406E-A5AD-20786A8BE46A}" srcOrd="3" destOrd="0" presId="urn:microsoft.com/office/officeart/2009/3/layout/RandomtoResultProcess"/>
    <dgm:cxn modelId="{6E514EAD-8F6A-4631-9393-FFC4C1A2A07D}" type="presParOf" srcId="{F744340B-FDEB-496B-AB87-5412962269C2}" destId="{86495BF9-CA15-42D7-9B45-5364A56E9FCD}" srcOrd="4" destOrd="0" presId="urn:microsoft.com/office/officeart/2009/3/layout/RandomtoResultProcess"/>
    <dgm:cxn modelId="{0A467248-DE53-4950-8826-734A40B16F26}" type="presParOf" srcId="{F744340B-FDEB-496B-AB87-5412962269C2}" destId="{EBAB9608-2274-480F-A98E-B04A1D5B9162}" srcOrd="5" destOrd="0" presId="urn:microsoft.com/office/officeart/2009/3/layout/RandomtoResultProcess"/>
    <dgm:cxn modelId="{CBD4F1A8-4F0A-4184-9FCC-8348CDA3DB67}" type="presParOf" srcId="{F744340B-FDEB-496B-AB87-5412962269C2}" destId="{5E4AC80D-EE75-449D-8D45-7B1B8573254F}" srcOrd="6" destOrd="0" presId="urn:microsoft.com/office/officeart/2009/3/layout/RandomtoResultProcess"/>
    <dgm:cxn modelId="{51F2B61E-C672-4271-9924-A430D982D195}" type="presParOf" srcId="{F744340B-FDEB-496B-AB87-5412962269C2}" destId="{94B717FF-292C-49E0-8DB1-AA4C2827927A}" srcOrd="7" destOrd="0" presId="urn:microsoft.com/office/officeart/2009/3/layout/RandomtoResultProcess"/>
    <dgm:cxn modelId="{C24A67C8-62B8-4DA4-8B5F-605E932E86E4}" type="presParOf" srcId="{F744340B-FDEB-496B-AB87-5412962269C2}" destId="{053C364F-CF08-4CDE-B2EE-F402185253D0}" srcOrd="8" destOrd="0" presId="urn:microsoft.com/office/officeart/2009/3/layout/RandomtoResultProcess"/>
    <dgm:cxn modelId="{103DCE31-8C19-434E-A998-0D6FA2063739}" type="presParOf" srcId="{F744340B-FDEB-496B-AB87-5412962269C2}" destId="{64E6FAD8-EE3C-416A-99D5-28911B8B4D97}" srcOrd="9" destOrd="0" presId="urn:microsoft.com/office/officeart/2009/3/layout/RandomtoResultProcess"/>
    <dgm:cxn modelId="{D472B04A-CAA8-456F-A909-18D4087FF2A6}" type="presParOf" srcId="{F744340B-FDEB-496B-AB87-5412962269C2}" destId="{7D389DFF-94C4-4BD3-ACB4-06659825490F}" srcOrd="10" destOrd="0" presId="urn:microsoft.com/office/officeart/2009/3/layout/RandomtoResultProcess"/>
    <dgm:cxn modelId="{957C159B-C6D7-467C-978C-44F05B07AEDE}" type="presParOf" srcId="{F744340B-FDEB-496B-AB87-5412962269C2}" destId="{358649D4-5364-4BF5-982F-56F6AA93DAE6}" srcOrd="11" destOrd="0" presId="urn:microsoft.com/office/officeart/2009/3/layout/RandomtoResultProcess"/>
    <dgm:cxn modelId="{5B8BC027-485F-4459-9B15-E3CA948AD609}" type="presParOf" srcId="{F744340B-FDEB-496B-AB87-5412962269C2}" destId="{CA96DC16-552A-4B52-BB5E-4AF6770ED141}" srcOrd="12" destOrd="0" presId="urn:microsoft.com/office/officeart/2009/3/layout/RandomtoResultProcess"/>
    <dgm:cxn modelId="{03B0DC4D-F21E-43BD-A133-A5F97B3B0AF6}" type="presParOf" srcId="{F744340B-FDEB-496B-AB87-5412962269C2}" destId="{B6BC3B07-998A-45C1-989D-9C7E42B4F095}" srcOrd="13" destOrd="0" presId="urn:microsoft.com/office/officeart/2009/3/layout/RandomtoResultProcess"/>
    <dgm:cxn modelId="{E8AA0A03-43E5-4BB3-AEFC-500563D54818}" type="presParOf" srcId="{F744340B-FDEB-496B-AB87-5412962269C2}" destId="{255A065F-05F7-4DF2-BD4A-6A8D1E28D457}" srcOrd="14" destOrd="0" presId="urn:microsoft.com/office/officeart/2009/3/layout/RandomtoResultProcess"/>
    <dgm:cxn modelId="{F197703C-0576-4FF4-95A9-594A23EDE961}" type="presParOf" srcId="{F744340B-FDEB-496B-AB87-5412962269C2}" destId="{2E7A3F33-000D-4493-992E-7516C5ADA46D}" srcOrd="15" destOrd="0" presId="urn:microsoft.com/office/officeart/2009/3/layout/RandomtoResultProcess"/>
    <dgm:cxn modelId="{463964CD-B631-4A3D-95A6-EC1B104E5807}" type="presParOf" srcId="{F744340B-FDEB-496B-AB87-5412962269C2}" destId="{4F07F66A-410A-4AAB-8E48-8620257FD7AB}" srcOrd="16" destOrd="0" presId="urn:microsoft.com/office/officeart/2009/3/layout/RandomtoResultProcess"/>
    <dgm:cxn modelId="{A1589FDA-350F-4604-AF8D-B39E643C9406}" type="presParOf" srcId="{F744340B-FDEB-496B-AB87-5412962269C2}" destId="{5757EA0E-2522-4668-AE02-F508B7D930AF}" srcOrd="17" destOrd="0" presId="urn:microsoft.com/office/officeart/2009/3/layout/RandomtoResultProcess"/>
    <dgm:cxn modelId="{93E35DF8-0D05-4117-8951-998C5A994CE3}" type="presParOf" srcId="{F744340B-FDEB-496B-AB87-5412962269C2}" destId="{2D0271D5-183C-4756-9FFB-CE4101D9C7C1}" srcOrd="18" destOrd="0" presId="urn:microsoft.com/office/officeart/2009/3/layout/RandomtoResult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33FD745-65C3-45D5-A281-79D04C8B1392}" type="doc">
      <dgm:prSet loTypeId="urn:microsoft.com/office/officeart/2005/8/layout/venn3" loCatId="relationship" qsTypeId="urn:microsoft.com/office/officeart/2005/8/quickstyle/3d3" qsCatId="3D" csTypeId="urn:microsoft.com/office/officeart/2005/8/colors/accent2_4" csCatId="accent2" phldr="1"/>
      <dgm:spPr/>
      <dgm:t>
        <a:bodyPr/>
        <a:lstStyle/>
        <a:p>
          <a:endParaRPr lang="en-IN"/>
        </a:p>
      </dgm:t>
    </dgm:pt>
    <dgm:pt modelId="{ED71B1AE-FC22-45A4-97B4-B080D7CACF66}">
      <dgm:prSet/>
      <dgm:spPr/>
      <dgm:t>
        <a:bodyPr/>
        <a:lstStyle/>
        <a:p>
          <a:r>
            <a:rPr lang="en-US" dirty="0"/>
            <a:t>Call volume increases in the morning and peaks between 7 AM, especially around 8 AM.</a:t>
          </a:r>
          <a:endParaRPr lang="en-IN" dirty="0"/>
        </a:p>
      </dgm:t>
    </dgm:pt>
    <dgm:pt modelId="{7A4DD4B4-4C86-48FF-977A-9DF0617712ED}" type="parTrans" cxnId="{757D7001-D11B-4BBA-A4F3-78A2C7AA7602}">
      <dgm:prSet/>
      <dgm:spPr/>
      <dgm:t>
        <a:bodyPr/>
        <a:lstStyle/>
        <a:p>
          <a:endParaRPr lang="en-IN"/>
        </a:p>
      </dgm:t>
    </dgm:pt>
    <dgm:pt modelId="{525BB701-EC46-465B-92C5-63E743D859C6}" type="sibTrans" cxnId="{757D7001-D11B-4BBA-A4F3-78A2C7AA7602}">
      <dgm:prSet/>
      <dgm:spPr/>
      <dgm:t>
        <a:bodyPr/>
        <a:lstStyle/>
        <a:p>
          <a:endParaRPr lang="en-IN"/>
        </a:p>
      </dgm:t>
    </dgm:pt>
    <dgm:pt modelId="{131D0988-9143-4390-BD5D-9FE53E3C618E}">
      <dgm:prSet/>
      <dgm:spPr/>
      <dgm:t>
        <a:bodyPr/>
        <a:lstStyle/>
        <a:p>
          <a:r>
            <a:rPr lang="en-US"/>
            <a:t>Peak hours show higher Busy, Failed, and No-Answer calls due to demand exceeding agent capacity.</a:t>
          </a:r>
          <a:endParaRPr lang="en-IN"/>
        </a:p>
      </dgm:t>
    </dgm:pt>
    <dgm:pt modelId="{B019CA1E-4893-4109-81D2-0D38EBCF6C21}" type="parTrans" cxnId="{55101A10-1205-4DBE-BE50-567119A7B6B1}">
      <dgm:prSet/>
      <dgm:spPr/>
      <dgm:t>
        <a:bodyPr/>
        <a:lstStyle/>
        <a:p>
          <a:endParaRPr lang="en-IN"/>
        </a:p>
      </dgm:t>
    </dgm:pt>
    <dgm:pt modelId="{BBE1CC40-0E6C-4D07-A5C9-AAFFC8748F39}" type="sibTrans" cxnId="{55101A10-1205-4DBE-BE50-567119A7B6B1}">
      <dgm:prSet/>
      <dgm:spPr/>
      <dgm:t>
        <a:bodyPr/>
        <a:lstStyle/>
        <a:p>
          <a:endParaRPr lang="en-IN"/>
        </a:p>
      </dgm:t>
    </dgm:pt>
    <dgm:pt modelId="{3C40DDD1-6DF3-4219-8B91-8A09FCA1012E}">
      <dgm:prSet/>
      <dgm:spPr/>
      <dgm:t>
        <a:bodyPr/>
        <a:lstStyle/>
        <a:p>
          <a:r>
            <a:rPr lang="en-US"/>
            <a:t>Evening and late-night hours have low call volumes, revealing workload imbalance and underutilized resources.</a:t>
          </a:r>
          <a:endParaRPr lang="en-IN"/>
        </a:p>
      </dgm:t>
    </dgm:pt>
    <dgm:pt modelId="{0CAEDFFD-A22C-4308-9478-DE4E262015C1}" type="parTrans" cxnId="{D77890D9-9B71-448A-9AED-C4F5D889D487}">
      <dgm:prSet/>
      <dgm:spPr/>
      <dgm:t>
        <a:bodyPr/>
        <a:lstStyle/>
        <a:p>
          <a:endParaRPr lang="en-IN"/>
        </a:p>
      </dgm:t>
    </dgm:pt>
    <dgm:pt modelId="{BA428832-F702-447A-8817-565DA01B0FBF}" type="sibTrans" cxnId="{D77890D9-9B71-448A-9AED-C4F5D889D487}">
      <dgm:prSet/>
      <dgm:spPr/>
      <dgm:t>
        <a:bodyPr/>
        <a:lstStyle/>
        <a:p>
          <a:endParaRPr lang="en-IN"/>
        </a:p>
      </dgm:t>
    </dgm:pt>
    <dgm:pt modelId="{9A4E137B-B5E9-437C-89A7-034C0B6A41E5}" type="pres">
      <dgm:prSet presAssocID="{C33FD745-65C3-45D5-A281-79D04C8B1392}" presName="Name0" presStyleCnt="0">
        <dgm:presLayoutVars>
          <dgm:dir/>
          <dgm:resizeHandles val="exact"/>
        </dgm:presLayoutVars>
      </dgm:prSet>
      <dgm:spPr/>
    </dgm:pt>
    <dgm:pt modelId="{62C5FB94-9A9F-4A71-999A-39C0F7961ECD}" type="pres">
      <dgm:prSet presAssocID="{ED71B1AE-FC22-45A4-97B4-B080D7CACF66}" presName="Name5" presStyleLbl="vennNode1" presStyleIdx="0" presStyleCnt="3">
        <dgm:presLayoutVars>
          <dgm:bulletEnabled val="1"/>
        </dgm:presLayoutVars>
      </dgm:prSet>
      <dgm:spPr/>
    </dgm:pt>
    <dgm:pt modelId="{11F27A5D-DAD0-4FA5-A88B-59A14BE31498}" type="pres">
      <dgm:prSet presAssocID="{525BB701-EC46-465B-92C5-63E743D859C6}" presName="space" presStyleCnt="0"/>
      <dgm:spPr/>
    </dgm:pt>
    <dgm:pt modelId="{955BE42E-0FA4-4305-987E-E50284420701}" type="pres">
      <dgm:prSet presAssocID="{131D0988-9143-4390-BD5D-9FE53E3C618E}" presName="Name5" presStyleLbl="vennNode1" presStyleIdx="1" presStyleCnt="3">
        <dgm:presLayoutVars>
          <dgm:bulletEnabled val="1"/>
        </dgm:presLayoutVars>
      </dgm:prSet>
      <dgm:spPr/>
    </dgm:pt>
    <dgm:pt modelId="{E605F1C2-B3E3-458E-A038-0738B8A24507}" type="pres">
      <dgm:prSet presAssocID="{BBE1CC40-0E6C-4D07-A5C9-AAFFC8748F39}" presName="space" presStyleCnt="0"/>
      <dgm:spPr/>
    </dgm:pt>
    <dgm:pt modelId="{35CE918C-5DD5-48CA-888B-84C6CD9A178E}" type="pres">
      <dgm:prSet presAssocID="{3C40DDD1-6DF3-4219-8B91-8A09FCA1012E}" presName="Name5" presStyleLbl="vennNode1" presStyleIdx="2" presStyleCnt="3">
        <dgm:presLayoutVars>
          <dgm:bulletEnabled val="1"/>
        </dgm:presLayoutVars>
      </dgm:prSet>
      <dgm:spPr/>
    </dgm:pt>
  </dgm:ptLst>
  <dgm:cxnLst>
    <dgm:cxn modelId="{757D7001-D11B-4BBA-A4F3-78A2C7AA7602}" srcId="{C33FD745-65C3-45D5-A281-79D04C8B1392}" destId="{ED71B1AE-FC22-45A4-97B4-B080D7CACF66}" srcOrd="0" destOrd="0" parTransId="{7A4DD4B4-4C86-48FF-977A-9DF0617712ED}" sibTransId="{525BB701-EC46-465B-92C5-63E743D859C6}"/>
    <dgm:cxn modelId="{55101A10-1205-4DBE-BE50-567119A7B6B1}" srcId="{C33FD745-65C3-45D5-A281-79D04C8B1392}" destId="{131D0988-9143-4390-BD5D-9FE53E3C618E}" srcOrd="1" destOrd="0" parTransId="{B019CA1E-4893-4109-81D2-0D38EBCF6C21}" sibTransId="{BBE1CC40-0E6C-4D07-A5C9-AAFFC8748F39}"/>
    <dgm:cxn modelId="{667E2162-F716-4115-BFA2-18C37BC36CAB}" type="presOf" srcId="{3C40DDD1-6DF3-4219-8B91-8A09FCA1012E}" destId="{35CE918C-5DD5-48CA-888B-84C6CD9A178E}" srcOrd="0" destOrd="0" presId="urn:microsoft.com/office/officeart/2005/8/layout/venn3"/>
    <dgm:cxn modelId="{224FDF57-F501-4CC0-8E3F-034E9F51C85A}" type="presOf" srcId="{ED71B1AE-FC22-45A4-97B4-B080D7CACF66}" destId="{62C5FB94-9A9F-4A71-999A-39C0F7961ECD}" srcOrd="0" destOrd="0" presId="urn:microsoft.com/office/officeart/2005/8/layout/venn3"/>
    <dgm:cxn modelId="{696D4192-5778-4F2F-98DC-D4EF27C4351B}" type="presOf" srcId="{C33FD745-65C3-45D5-A281-79D04C8B1392}" destId="{9A4E137B-B5E9-437C-89A7-034C0B6A41E5}" srcOrd="0" destOrd="0" presId="urn:microsoft.com/office/officeart/2005/8/layout/venn3"/>
    <dgm:cxn modelId="{CFCAE0D3-BD92-42E3-B975-82C686F2E6BB}" type="presOf" srcId="{131D0988-9143-4390-BD5D-9FE53E3C618E}" destId="{955BE42E-0FA4-4305-987E-E50284420701}" srcOrd="0" destOrd="0" presId="urn:microsoft.com/office/officeart/2005/8/layout/venn3"/>
    <dgm:cxn modelId="{D77890D9-9B71-448A-9AED-C4F5D889D487}" srcId="{C33FD745-65C3-45D5-A281-79D04C8B1392}" destId="{3C40DDD1-6DF3-4219-8B91-8A09FCA1012E}" srcOrd="2" destOrd="0" parTransId="{0CAEDFFD-A22C-4308-9478-DE4E262015C1}" sibTransId="{BA428832-F702-447A-8817-565DA01B0FBF}"/>
    <dgm:cxn modelId="{1EC9BFBF-A6A7-4F2A-B0C7-2D8DF25C31A4}" type="presParOf" srcId="{9A4E137B-B5E9-437C-89A7-034C0B6A41E5}" destId="{62C5FB94-9A9F-4A71-999A-39C0F7961ECD}" srcOrd="0" destOrd="0" presId="urn:microsoft.com/office/officeart/2005/8/layout/venn3"/>
    <dgm:cxn modelId="{43319038-2076-4AEA-9F69-B194E5CE2C1B}" type="presParOf" srcId="{9A4E137B-B5E9-437C-89A7-034C0B6A41E5}" destId="{11F27A5D-DAD0-4FA5-A88B-59A14BE31498}" srcOrd="1" destOrd="0" presId="urn:microsoft.com/office/officeart/2005/8/layout/venn3"/>
    <dgm:cxn modelId="{90CCD5B0-E302-4C8F-97F0-345AFFDB0DF4}" type="presParOf" srcId="{9A4E137B-B5E9-437C-89A7-034C0B6A41E5}" destId="{955BE42E-0FA4-4305-987E-E50284420701}" srcOrd="2" destOrd="0" presId="urn:microsoft.com/office/officeart/2005/8/layout/venn3"/>
    <dgm:cxn modelId="{6E842B93-39EF-4A59-BE3F-93A37B54D6C6}" type="presParOf" srcId="{9A4E137B-B5E9-437C-89A7-034C0B6A41E5}" destId="{E605F1C2-B3E3-458E-A038-0738B8A24507}" srcOrd="3" destOrd="0" presId="urn:microsoft.com/office/officeart/2005/8/layout/venn3"/>
    <dgm:cxn modelId="{250C691B-97E0-4406-BE27-E04FFFDD9317}" type="presParOf" srcId="{9A4E137B-B5E9-437C-89A7-034C0B6A41E5}" destId="{35CE918C-5DD5-48CA-888B-84C6CD9A178E}" srcOrd="4" destOrd="0" presId="urn:microsoft.com/office/officeart/2005/8/layout/ven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3E8BCEA-41E8-44DC-8D0D-CD32D52F6DEB}" type="doc">
      <dgm:prSet loTypeId="urn:microsoft.com/office/officeart/2005/8/layout/venn3" loCatId="relationship" qsTypeId="urn:microsoft.com/office/officeart/2005/8/quickstyle/simple1" qsCatId="simple" csTypeId="urn:microsoft.com/office/officeart/2005/8/colors/accent1_3" csCatId="accent1"/>
      <dgm:spPr/>
      <dgm:t>
        <a:bodyPr/>
        <a:lstStyle/>
        <a:p>
          <a:endParaRPr lang="en-IN"/>
        </a:p>
      </dgm:t>
    </dgm:pt>
    <dgm:pt modelId="{4701443D-1419-4FE6-B202-0ACD8EED470C}">
      <dgm:prSet/>
      <dgm:spPr/>
      <dgm:t>
        <a:bodyPr/>
        <a:lstStyle/>
        <a:p>
          <a:r>
            <a:rPr lang="en-US"/>
            <a:t>The chart shows that customers mainly use one method to interact, with most consultations coming from a single platform. This means customers are relying heavily on just one channel, which could be risky if that platform experiences any problems. Using the app, website, and dashboard together can help reach more customers, spread out the traffic more evenly, and make the service more dependable overall.</a:t>
          </a:r>
          <a:endParaRPr lang="en-IN"/>
        </a:p>
      </dgm:t>
    </dgm:pt>
    <dgm:pt modelId="{285635B0-B1C1-4954-9BCD-48E6174208FE}" type="parTrans" cxnId="{BE4D9FFC-FF64-4318-AAAC-4152E113103F}">
      <dgm:prSet/>
      <dgm:spPr/>
      <dgm:t>
        <a:bodyPr/>
        <a:lstStyle/>
        <a:p>
          <a:endParaRPr lang="en-IN"/>
        </a:p>
      </dgm:t>
    </dgm:pt>
    <dgm:pt modelId="{312818A9-042C-40C4-94C7-27AF934EE845}" type="sibTrans" cxnId="{BE4D9FFC-FF64-4318-AAAC-4152E113103F}">
      <dgm:prSet/>
      <dgm:spPr/>
      <dgm:t>
        <a:bodyPr/>
        <a:lstStyle/>
        <a:p>
          <a:endParaRPr lang="en-IN"/>
        </a:p>
      </dgm:t>
    </dgm:pt>
    <dgm:pt modelId="{BC16ADA9-0F98-4321-B286-A3AA405A35D6}" type="pres">
      <dgm:prSet presAssocID="{83E8BCEA-41E8-44DC-8D0D-CD32D52F6DEB}" presName="Name0" presStyleCnt="0">
        <dgm:presLayoutVars>
          <dgm:dir/>
          <dgm:resizeHandles val="exact"/>
        </dgm:presLayoutVars>
      </dgm:prSet>
      <dgm:spPr/>
    </dgm:pt>
    <dgm:pt modelId="{E6228871-2114-42DE-8BDC-8CBC6309472D}" type="pres">
      <dgm:prSet presAssocID="{4701443D-1419-4FE6-B202-0ACD8EED470C}" presName="Name5" presStyleLbl="vennNode1" presStyleIdx="0" presStyleCnt="1">
        <dgm:presLayoutVars>
          <dgm:bulletEnabled val="1"/>
        </dgm:presLayoutVars>
      </dgm:prSet>
      <dgm:spPr/>
    </dgm:pt>
  </dgm:ptLst>
  <dgm:cxnLst>
    <dgm:cxn modelId="{1239F519-C49E-420A-95AB-9089733B90C5}" type="presOf" srcId="{4701443D-1419-4FE6-B202-0ACD8EED470C}" destId="{E6228871-2114-42DE-8BDC-8CBC6309472D}" srcOrd="0" destOrd="0" presId="urn:microsoft.com/office/officeart/2005/8/layout/venn3"/>
    <dgm:cxn modelId="{51936FD9-890A-43E3-801E-D2B35E322EE4}" type="presOf" srcId="{83E8BCEA-41E8-44DC-8D0D-CD32D52F6DEB}" destId="{BC16ADA9-0F98-4321-B286-A3AA405A35D6}" srcOrd="0" destOrd="0" presId="urn:microsoft.com/office/officeart/2005/8/layout/venn3"/>
    <dgm:cxn modelId="{BE4D9FFC-FF64-4318-AAAC-4152E113103F}" srcId="{83E8BCEA-41E8-44DC-8D0D-CD32D52F6DEB}" destId="{4701443D-1419-4FE6-B202-0ACD8EED470C}" srcOrd="0" destOrd="0" parTransId="{285635B0-B1C1-4954-9BCD-48E6174208FE}" sibTransId="{312818A9-042C-40C4-94C7-27AF934EE845}"/>
    <dgm:cxn modelId="{342C7DE6-345D-4CF6-A64B-B9F3D01C067F}" type="presParOf" srcId="{BC16ADA9-0F98-4321-B286-A3AA405A35D6}" destId="{E6228871-2114-42DE-8BDC-8CBC6309472D}" srcOrd="0" destOrd="0" presId="urn:microsoft.com/office/officeart/2005/8/layout/ven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1F29478-16A4-4F50-AE86-D3E8A9523B44}" type="doc">
      <dgm:prSet loTypeId="urn:microsoft.com/office/officeart/2005/8/layout/cycle8" loCatId="cycle" qsTypeId="urn:microsoft.com/office/officeart/2005/8/quickstyle/3d1" qsCatId="3D" csTypeId="urn:microsoft.com/office/officeart/2005/8/colors/accent1_1" csCatId="accent1"/>
      <dgm:spPr/>
      <dgm:t>
        <a:bodyPr/>
        <a:lstStyle/>
        <a:p>
          <a:endParaRPr lang="en-IN"/>
        </a:p>
      </dgm:t>
    </dgm:pt>
    <dgm:pt modelId="{0C435962-2F2D-48E4-8E76-EEB2CC189C8C}">
      <dgm:prSet/>
      <dgm:spPr/>
      <dgm:t>
        <a:bodyPr/>
        <a:lstStyle/>
        <a:p>
          <a:r>
            <a:rPr lang="en-US" dirty="0"/>
            <a:t>Top-performing agents deliver better customer satisfaction because they solve problems quickly and keep calls within a good time frame. Agents who don’t perform as well tend to handle calls in an uneven way—either taking too long or not giving enough attention. The differences in how well agents perform point to skill and process issues, not a lack of staff. This shows that managing conversations well has a bigger impact on customer satisfaction than simply handling more calls.</a:t>
          </a:r>
          <a:endParaRPr lang="en-IN" dirty="0"/>
        </a:p>
      </dgm:t>
    </dgm:pt>
    <dgm:pt modelId="{5B9A909A-1660-4792-834F-CD690CA41E59}" type="parTrans" cxnId="{84402D33-CAE3-423B-8FA5-6BA052288008}">
      <dgm:prSet/>
      <dgm:spPr/>
      <dgm:t>
        <a:bodyPr/>
        <a:lstStyle/>
        <a:p>
          <a:endParaRPr lang="en-IN"/>
        </a:p>
      </dgm:t>
    </dgm:pt>
    <dgm:pt modelId="{3C2F3ABF-51AF-460F-B99D-3FDA97352488}" type="sibTrans" cxnId="{84402D33-CAE3-423B-8FA5-6BA052288008}">
      <dgm:prSet/>
      <dgm:spPr/>
      <dgm:t>
        <a:bodyPr/>
        <a:lstStyle/>
        <a:p>
          <a:endParaRPr lang="en-IN"/>
        </a:p>
      </dgm:t>
    </dgm:pt>
    <dgm:pt modelId="{0C832A4C-39E2-4FDA-9827-143FA0E6697A}" type="pres">
      <dgm:prSet presAssocID="{91F29478-16A4-4F50-AE86-D3E8A9523B44}" presName="compositeShape" presStyleCnt="0">
        <dgm:presLayoutVars>
          <dgm:chMax val="7"/>
          <dgm:dir/>
          <dgm:resizeHandles val="exact"/>
        </dgm:presLayoutVars>
      </dgm:prSet>
      <dgm:spPr/>
    </dgm:pt>
    <dgm:pt modelId="{73C85CCB-1920-4B54-8542-D25FB94953AD}" type="pres">
      <dgm:prSet presAssocID="{91F29478-16A4-4F50-AE86-D3E8A9523B44}" presName="wedge1" presStyleLbl="node1" presStyleIdx="0" presStyleCnt="1"/>
      <dgm:spPr/>
    </dgm:pt>
    <dgm:pt modelId="{FC4A13EE-5C58-462B-8B6F-8DE35F789FBC}" type="pres">
      <dgm:prSet presAssocID="{91F29478-16A4-4F50-AE86-D3E8A9523B44}" presName="dummy1a" presStyleCnt="0"/>
      <dgm:spPr/>
    </dgm:pt>
    <dgm:pt modelId="{8A0659CD-93E5-4B4B-A76A-D81B21DD50AD}" type="pres">
      <dgm:prSet presAssocID="{91F29478-16A4-4F50-AE86-D3E8A9523B44}" presName="dummy1b" presStyleCnt="0"/>
      <dgm:spPr/>
    </dgm:pt>
    <dgm:pt modelId="{0C75481D-9B60-4C87-A008-BB845DC71E25}" type="pres">
      <dgm:prSet presAssocID="{91F29478-16A4-4F50-AE86-D3E8A9523B44}" presName="wedge1Tx" presStyleLbl="node1" presStyleIdx="0" presStyleCnt="1">
        <dgm:presLayoutVars>
          <dgm:chMax val="0"/>
          <dgm:chPref val="0"/>
          <dgm:bulletEnabled val="1"/>
        </dgm:presLayoutVars>
      </dgm:prSet>
      <dgm:spPr/>
    </dgm:pt>
    <dgm:pt modelId="{CC2223DF-96EC-4C9B-A915-8ADA94DA1B97}" type="pres">
      <dgm:prSet presAssocID="{3C2F3ABF-51AF-460F-B99D-3FDA97352488}" presName="arrowWedge1single" presStyleLbl="fgSibTrans2D1" presStyleIdx="0" presStyleCnt="1"/>
      <dgm:spPr/>
    </dgm:pt>
  </dgm:ptLst>
  <dgm:cxnLst>
    <dgm:cxn modelId="{84402D33-CAE3-423B-8FA5-6BA052288008}" srcId="{91F29478-16A4-4F50-AE86-D3E8A9523B44}" destId="{0C435962-2F2D-48E4-8E76-EEB2CC189C8C}" srcOrd="0" destOrd="0" parTransId="{5B9A909A-1660-4792-834F-CD690CA41E59}" sibTransId="{3C2F3ABF-51AF-460F-B99D-3FDA97352488}"/>
    <dgm:cxn modelId="{360F1566-C245-44CD-A0F6-3AAAEE88C7DC}" type="presOf" srcId="{0C435962-2F2D-48E4-8E76-EEB2CC189C8C}" destId="{0C75481D-9B60-4C87-A008-BB845DC71E25}" srcOrd="1" destOrd="0" presId="urn:microsoft.com/office/officeart/2005/8/layout/cycle8"/>
    <dgm:cxn modelId="{2A3961AE-8169-453F-81EB-F0FACC6F1CEE}" type="presOf" srcId="{91F29478-16A4-4F50-AE86-D3E8A9523B44}" destId="{0C832A4C-39E2-4FDA-9827-143FA0E6697A}" srcOrd="0" destOrd="0" presId="urn:microsoft.com/office/officeart/2005/8/layout/cycle8"/>
    <dgm:cxn modelId="{901035B1-314F-4D22-92B0-9315A324D875}" type="presOf" srcId="{0C435962-2F2D-48E4-8E76-EEB2CC189C8C}" destId="{73C85CCB-1920-4B54-8542-D25FB94953AD}" srcOrd="0" destOrd="0" presId="urn:microsoft.com/office/officeart/2005/8/layout/cycle8"/>
    <dgm:cxn modelId="{6EDABB5C-55FD-4A1D-8444-52BFA112CB07}" type="presParOf" srcId="{0C832A4C-39E2-4FDA-9827-143FA0E6697A}" destId="{73C85CCB-1920-4B54-8542-D25FB94953AD}" srcOrd="0" destOrd="0" presId="urn:microsoft.com/office/officeart/2005/8/layout/cycle8"/>
    <dgm:cxn modelId="{F6CAEE5C-6BA2-4DE7-9AD5-F4336A54BB95}" type="presParOf" srcId="{0C832A4C-39E2-4FDA-9827-143FA0E6697A}" destId="{FC4A13EE-5C58-462B-8B6F-8DE35F789FBC}" srcOrd="1" destOrd="0" presId="urn:microsoft.com/office/officeart/2005/8/layout/cycle8"/>
    <dgm:cxn modelId="{43C37702-1206-4B37-8F42-2FDC83C1E1C0}" type="presParOf" srcId="{0C832A4C-39E2-4FDA-9827-143FA0E6697A}" destId="{8A0659CD-93E5-4B4B-A76A-D81B21DD50AD}" srcOrd="2" destOrd="0" presId="urn:microsoft.com/office/officeart/2005/8/layout/cycle8"/>
    <dgm:cxn modelId="{BCEAD7E8-3D3E-4118-B9AF-3D4C307A5BAA}" type="presParOf" srcId="{0C832A4C-39E2-4FDA-9827-143FA0E6697A}" destId="{0C75481D-9B60-4C87-A008-BB845DC71E25}" srcOrd="3" destOrd="0" presId="urn:microsoft.com/office/officeart/2005/8/layout/cycle8"/>
    <dgm:cxn modelId="{14697A42-37E8-4770-ACA2-B24D276C1C1C}" type="presParOf" srcId="{0C832A4C-39E2-4FDA-9827-143FA0E6697A}" destId="{CC2223DF-96EC-4C9B-A915-8ADA94DA1B97}" srcOrd="4" destOrd="0" presId="urn:microsoft.com/office/officeart/2005/8/layout/cycle8"/>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8688124-12C8-416E-B3EF-2717D65FAD64}" type="doc">
      <dgm:prSet loTypeId="urn:microsoft.com/office/officeart/2018/2/layout/IconLabelList" loCatId="icon" qsTypeId="urn:microsoft.com/office/officeart/2005/8/quickstyle/3d3" qsCatId="3D" csTypeId="urn:microsoft.com/office/officeart/2005/8/colors/accent0_3" csCatId="mainScheme" phldr="1"/>
      <dgm:spPr/>
      <dgm:t>
        <a:bodyPr/>
        <a:lstStyle/>
        <a:p>
          <a:endParaRPr lang="en-IN"/>
        </a:p>
      </dgm:t>
    </dgm:pt>
    <dgm:pt modelId="{2FD9F39D-75B8-488E-B2A1-CBDC056FAE15}">
      <dgm:prSet custT="1"/>
      <dgm:spPr/>
      <dgm:t>
        <a:bodyPr/>
        <a:lstStyle/>
        <a:p>
          <a:pPr>
            <a:lnSpc>
              <a:spcPct val="100000"/>
            </a:lnSpc>
          </a:pPr>
          <a:r>
            <a:rPr lang="en-US" sz="1100" b="1" dirty="0">
              <a:solidFill>
                <a:schemeClr val="tx2"/>
              </a:solidFill>
            </a:rPr>
            <a:t>1</a:t>
          </a:r>
          <a:r>
            <a:rPr lang="en-US" sz="1100" b="1" dirty="0"/>
            <a:t>. </a:t>
          </a:r>
          <a:r>
            <a:rPr lang="en-US" sz="1200" b="1" dirty="0">
              <a:solidFill>
                <a:schemeClr val="tx2"/>
              </a:solidFill>
            </a:rPr>
            <a:t>Workforce &amp; Workload Management</a:t>
          </a:r>
          <a:br>
            <a:rPr lang="en-US" sz="1200" dirty="0"/>
          </a:br>
          <a:r>
            <a:rPr lang="en-US" sz="1200" dirty="0"/>
            <a:t>     </a:t>
          </a:r>
          <a:r>
            <a:rPr lang="en-US" sz="1200" b="1" dirty="0"/>
            <a:t>Implement intelligent workload distribution and peak-hour staffing</a:t>
          </a:r>
          <a:r>
            <a:rPr lang="en-US" sz="1200" dirty="0"/>
            <a:t> to balance agent capacity, prevent burnout, and maintain consistent service quality.</a:t>
          </a:r>
          <a:endParaRPr lang="en-IN" sz="1200" dirty="0"/>
        </a:p>
      </dgm:t>
    </dgm:pt>
    <dgm:pt modelId="{49DC40E4-2E78-4D50-9ADD-5A5DE57ABB9D}" type="parTrans" cxnId="{0D2B8DBA-DC4A-4977-9B47-5663A2CCEDF8}">
      <dgm:prSet/>
      <dgm:spPr/>
      <dgm:t>
        <a:bodyPr/>
        <a:lstStyle/>
        <a:p>
          <a:endParaRPr lang="en-IN"/>
        </a:p>
      </dgm:t>
    </dgm:pt>
    <dgm:pt modelId="{99016933-5C3A-438B-9814-970EC1055BE5}" type="sibTrans" cxnId="{0D2B8DBA-DC4A-4977-9B47-5663A2CCEDF8}">
      <dgm:prSet/>
      <dgm:spPr/>
      <dgm:t>
        <a:bodyPr/>
        <a:lstStyle/>
        <a:p>
          <a:endParaRPr lang="en-IN"/>
        </a:p>
      </dgm:t>
    </dgm:pt>
    <dgm:pt modelId="{AF8A11A3-9250-4667-B00E-0ED693757AF7}">
      <dgm:prSet custT="1"/>
      <dgm:spPr/>
      <dgm:t>
        <a:bodyPr/>
        <a:lstStyle/>
        <a:p>
          <a:pPr>
            <a:lnSpc>
              <a:spcPct val="100000"/>
            </a:lnSpc>
          </a:pPr>
          <a:r>
            <a:rPr lang="en-US" sz="1200" b="1" dirty="0">
              <a:solidFill>
                <a:schemeClr val="tx2"/>
              </a:solidFill>
            </a:rPr>
            <a:t>2</a:t>
          </a:r>
          <a:r>
            <a:rPr lang="en-US" sz="1200" b="1" dirty="0"/>
            <a:t>. </a:t>
          </a:r>
          <a:r>
            <a:rPr lang="en-US" sz="1200" b="1" dirty="0">
              <a:solidFill>
                <a:schemeClr val="tx2"/>
              </a:solidFill>
            </a:rPr>
            <a:t>Performance Improvement &amp; Training</a:t>
          </a:r>
          <a:br>
            <a:rPr lang="en-US" sz="1200" dirty="0"/>
          </a:br>
          <a:r>
            <a:rPr lang="en-US" sz="1200" b="1" dirty="0"/>
            <a:t>Introduce targeted skill-based training programs</a:t>
          </a:r>
          <a:r>
            <a:rPr lang="en-US" sz="1200" dirty="0"/>
            <a:t> using best-performing agents’ practices to improve communication, efficiency, and problem resolution.</a:t>
          </a:r>
          <a:endParaRPr lang="en-IN" sz="1200" dirty="0"/>
        </a:p>
      </dgm:t>
    </dgm:pt>
    <dgm:pt modelId="{49A14865-A576-45FB-8950-F5117CEB5AB4}" type="parTrans" cxnId="{106944F7-B63A-4FE6-9A38-B6F7403BEBAE}">
      <dgm:prSet/>
      <dgm:spPr/>
      <dgm:t>
        <a:bodyPr/>
        <a:lstStyle/>
        <a:p>
          <a:endParaRPr lang="en-IN"/>
        </a:p>
      </dgm:t>
    </dgm:pt>
    <dgm:pt modelId="{80454612-4605-4662-B454-4577C1719EBE}" type="sibTrans" cxnId="{106944F7-B63A-4FE6-9A38-B6F7403BEBAE}">
      <dgm:prSet/>
      <dgm:spPr/>
      <dgm:t>
        <a:bodyPr/>
        <a:lstStyle/>
        <a:p>
          <a:endParaRPr lang="en-IN"/>
        </a:p>
      </dgm:t>
    </dgm:pt>
    <dgm:pt modelId="{08B6D9BF-D380-47B3-81B6-47A545408755}">
      <dgm:prSet custT="1"/>
      <dgm:spPr/>
      <dgm:t>
        <a:bodyPr/>
        <a:lstStyle/>
        <a:p>
          <a:pPr>
            <a:lnSpc>
              <a:spcPct val="100000"/>
            </a:lnSpc>
          </a:pPr>
          <a:r>
            <a:rPr lang="en-US" sz="1200" b="1" dirty="0">
              <a:solidFill>
                <a:schemeClr val="tx2"/>
              </a:solidFill>
            </a:rPr>
            <a:t>3</a:t>
          </a:r>
          <a:r>
            <a:rPr lang="en-US" sz="1200" b="1" dirty="0"/>
            <a:t>. </a:t>
          </a:r>
          <a:r>
            <a:rPr lang="en-US" sz="1200" b="1" dirty="0">
              <a:solidFill>
                <a:schemeClr val="tx2"/>
              </a:solidFill>
            </a:rPr>
            <a:t>Customer Satisfaction Enhancement</a:t>
          </a:r>
          <a:br>
            <a:rPr lang="en-US" sz="1200" dirty="0"/>
          </a:br>
          <a:r>
            <a:rPr lang="en-US" sz="1200" b="1" dirty="0"/>
            <a:t>Improve customer experience by reducing wait times</a:t>
          </a:r>
          <a:r>
            <a:rPr lang="en-US" sz="1200" dirty="0"/>
            <a:t> through callback options and enabling agents with faster problem-solving tools.</a:t>
          </a:r>
          <a:endParaRPr lang="en-IN" sz="1200" dirty="0"/>
        </a:p>
      </dgm:t>
    </dgm:pt>
    <dgm:pt modelId="{556F4899-56D9-49E5-A389-E7CFA629C3D3}" type="parTrans" cxnId="{0423F315-C108-4B48-BF11-0D3B4F9C5393}">
      <dgm:prSet/>
      <dgm:spPr/>
      <dgm:t>
        <a:bodyPr/>
        <a:lstStyle/>
        <a:p>
          <a:endParaRPr lang="en-IN"/>
        </a:p>
      </dgm:t>
    </dgm:pt>
    <dgm:pt modelId="{DE550B67-699E-402A-912E-07927BEC414E}" type="sibTrans" cxnId="{0423F315-C108-4B48-BF11-0D3B4F9C5393}">
      <dgm:prSet/>
      <dgm:spPr/>
      <dgm:t>
        <a:bodyPr/>
        <a:lstStyle/>
        <a:p>
          <a:endParaRPr lang="en-IN"/>
        </a:p>
      </dgm:t>
    </dgm:pt>
    <dgm:pt modelId="{1D8ABE1E-7468-4466-B676-076500FC3E89}">
      <dgm:prSet custT="1"/>
      <dgm:spPr/>
      <dgm:t>
        <a:bodyPr/>
        <a:lstStyle/>
        <a:p>
          <a:pPr>
            <a:lnSpc>
              <a:spcPct val="100000"/>
            </a:lnSpc>
          </a:pPr>
          <a:r>
            <a:rPr lang="en-US" sz="1200" b="1" dirty="0">
              <a:solidFill>
                <a:schemeClr val="tx2"/>
              </a:solidFill>
            </a:rPr>
            <a:t>4. Monitoring &amp; Data-Driven Decision Making</a:t>
          </a:r>
          <a:br>
            <a:rPr lang="en-US" sz="1200" dirty="0"/>
          </a:br>
          <a:r>
            <a:rPr lang="en-US" sz="1200" b="1" dirty="0"/>
            <a:t>Adopt real-time performance dashboards</a:t>
          </a:r>
          <a:r>
            <a:rPr lang="en-US" sz="1200" dirty="0"/>
            <a:t> to continuously monitor workload, agent performance, and customer satisfaction for proactive decision-making.</a:t>
          </a:r>
          <a:endParaRPr lang="en-IN" sz="1200" dirty="0"/>
        </a:p>
      </dgm:t>
    </dgm:pt>
    <dgm:pt modelId="{C716A992-EDF1-45C6-AB36-2ACB8E5C3F9E}" type="parTrans" cxnId="{ED5123E1-A8C7-4671-95B6-F9A1CE0CC899}">
      <dgm:prSet/>
      <dgm:spPr/>
      <dgm:t>
        <a:bodyPr/>
        <a:lstStyle/>
        <a:p>
          <a:endParaRPr lang="en-IN"/>
        </a:p>
      </dgm:t>
    </dgm:pt>
    <dgm:pt modelId="{6257BF63-6EE3-43C7-AEC6-4EE58B4961AD}" type="sibTrans" cxnId="{ED5123E1-A8C7-4671-95B6-F9A1CE0CC899}">
      <dgm:prSet/>
      <dgm:spPr/>
      <dgm:t>
        <a:bodyPr/>
        <a:lstStyle/>
        <a:p>
          <a:endParaRPr lang="en-IN"/>
        </a:p>
      </dgm:t>
    </dgm:pt>
    <dgm:pt modelId="{D378C19F-7CD1-41CF-B2FC-03A08A4564E1}">
      <dgm:prSet custT="1"/>
      <dgm:spPr/>
      <dgm:t>
        <a:bodyPr/>
        <a:lstStyle/>
        <a:p>
          <a:pPr>
            <a:lnSpc>
              <a:spcPct val="100000"/>
            </a:lnSpc>
          </a:pPr>
          <a:r>
            <a:rPr lang="en-US" sz="1200" b="1" dirty="0">
              <a:solidFill>
                <a:schemeClr val="tx2"/>
              </a:solidFill>
            </a:rPr>
            <a:t>5. Motivation, Incentives &amp; Strategic Analysis</a:t>
          </a:r>
          <a:br>
            <a:rPr lang="en-US" sz="1200" dirty="0"/>
          </a:br>
          <a:r>
            <a:rPr lang="en-US" sz="1200" b="1" dirty="0"/>
            <a:t>Establish performance-based incentive and recognition programs</a:t>
          </a:r>
          <a:r>
            <a:rPr lang="en-US" sz="1200" dirty="0"/>
            <a:t> to boost agent motivation, productivity, and long-term service quality.</a:t>
          </a:r>
          <a:endParaRPr lang="en-IN" sz="1200" dirty="0"/>
        </a:p>
      </dgm:t>
    </dgm:pt>
    <dgm:pt modelId="{E92659B2-CE32-494A-81AF-85B9AA004CAF}" type="parTrans" cxnId="{D3A935F9-357A-42A2-B8D0-DECE3583CC12}">
      <dgm:prSet/>
      <dgm:spPr/>
      <dgm:t>
        <a:bodyPr/>
        <a:lstStyle/>
        <a:p>
          <a:endParaRPr lang="en-IN"/>
        </a:p>
      </dgm:t>
    </dgm:pt>
    <dgm:pt modelId="{B34E9433-8411-4B33-96A4-24D598EE53AF}" type="sibTrans" cxnId="{D3A935F9-357A-42A2-B8D0-DECE3583CC12}">
      <dgm:prSet/>
      <dgm:spPr/>
      <dgm:t>
        <a:bodyPr/>
        <a:lstStyle/>
        <a:p>
          <a:endParaRPr lang="en-IN"/>
        </a:p>
      </dgm:t>
    </dgm:pt>
    <dgm:pt modelId="{822552C4-C72B-4D03-8B17-EDE58482F7FA}" type="pres">
      <dgm:prSet presAssocID="{A8688124-12C8-416E-B3EF-2717D65FAD64}" presName="root" presStyleCnt="0">
        <dgm:presLayoutVars>
          <dgm:dir/>
          <dgm:resizeHandles val="exact"/>
        </dgm:presLayoutVars>
      </dgm:prSet>
      <dgm:spPr/>
    </dgm:pt>
    <dgm:pt modelId="{7EF6B704-0227-4B4D-A654-D67DAC31E58B}" type="pres">
      <dgm:prSet presAssocID="{2FD9F39D-75B8-488E-B2A1-CBDC056FAE15}" presName="compNode" presStyleCnt="0"/>
      <dgm:spPr/>
    </dgm:pt>
    <dgm:pt modelId="{CC06AA0D-EB88-483A-A824-B573A8088324}" type="pres">
      <dgm:prSet presAssocID="{2FD9F39D-75B8-488E-B2A1-CBDC056FAE15}" presName="iconRect" presStyleLbl="node1" presStyleIdx="0" presStyleCnt="5" custLinFactNeighborX="-3555" custLinFactNeighborY="-2429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Office Worker"/>
        </a:ext>
      </dgm:extLst>
    </dgm:pt>
    <dgm:pt modelId="{14298749-794D-415C-B801-C6A127DC965A}" type="pres">
      <dgm:prSet presAssocID="{2FD9F39D-75B8-488E-B2A1-CBDC056FAE15}" presName="spaceRect" presStyleCnt="0"/>
      <dgm:spPr/>
    </dgm:pt>
    <dgm:pt modelId="{0B0DE06C-8220-489B-9DC0-8EB53B043D77}" type="pres">
      <dgm:prSet presAssocID="{2FD9F39D-75B8-488E-B2A1-CBDC056FAE15}" presName="textRect" presStyleLbl="revTx" presStyleIdx="0" presStyleCnt="5" custScaleX="108936" custScaleY="142283" custLinFactNeighborX="1635" custLinFactNeighborY="3335">
        <dgm:presLayoutVars>
          <dgm:chMax val="1"/>
          <dgm:chPref val="1"/>
        </dgm:presLayoutVars>
      </dgm:prSet>
      <dgm:spPr/>
    </dgm:pt>
    <dgm:pt modelId="{09705872-4902-405F-9DB5-2BEB9F5436EB}" type="pres">
      <dgm:prSet presAssocID="{99016933-5C3A-438B-9814-970EC1055BE5}" presName="sibTrans" presStyleCnt="0"/>
      <dgm:spPr/>
    </dgm:pt>
    <dgm:pt modelId="{EE893162-F85A-46E9-AC2E-720015AB15CF}" type="pres">
      <dgm:prSet presAssocID="{AF8A11A3-9250-4667-B00E-0ED693757AF7}" presName="compNode" presStyleCnt="0"/>
      <dgm:spPr/>
    </dgm:pt>
    <dgm:pt modelId="{CA7CA478-9EDA-4BE7-8DA3-9CA99156A330}" type="pres">
      <dgm:prSet presAssocID="{AF8A11A3-9250-4667-B00E-0ED693757AF7}" presName="iconRect" presStyleLbl="node1" presStyleIdx="1" presStyleCnt="5" custLinFactNeighborX="-455" custLinFactNeighborY="-21019"/>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aseball Hat"/>
        </a:ext>
      </dgm:extLst>
    </dgm:pt>
    <dgm:pt modelId="{41D207E0-0479-4E42-ADA6-778AA3BA1A12}" type="pres">
      <dgm:prSet presAssocID="{AF8A11A3-9250-4667-B00E-0ED693757AF7}" presName="spaceRect" presStyleCnt="0"/>
      <dgm:spPr/>
    </dgm:pt>
    <dgm:pt modelId="{CCA4DA1A-7332-4F9D-A0B4-8FB40F09FF54}" type="pres">
      <dgm:prSet presAssocID="{AF8A11A3-9250-4667-B00E-0ED693757AF7}" presName="textRect" presStyleLbl="revTx" presStyleIdx="1" presStyleCnt="5" custScaleX="122919" custScaleY="158468" custLinFactNeighborX="-3322" custLinFactNeighborY="13578">
        <dgm:presLayoutVars>
          <dgm:chMax val="1"/>
          <dgm:chPref val="1"/>
        </dgm:presLayoutVars>
      </dgm:prSet>
      <dgm:spPr/>
    </dgm:pt>
    <dgm:pt modelId="{06B231AB-53BE-427A-903F-61A3CBF867BE}" type="pres">
      <dgm:prSet presAssocID="{80454612-4605-4662-B454-4577C1719EBE}" presName="sibTrans" presStyleCnt="0"/>
      <dgm:spPr/>
    </dgm:pt>
    <dgm:pt modelId="{B7294B22-F370-400C-92BF-7B193E91EE26}" type="pres">
      <dgm:prSet presAssocID="{08B6D9BF-D380-47B3-81B6-47A545408755}" presName="compNode" presStyleCnt="0"/>
      <dgm:spPr/>
    </dgm:pt>
    <dgm:pt modelId="{5705ACF5-8F67-4C85-A445-581799C69ED4}" type="pres">
      <dgm:prSet presAssocID="{08B6D9BF-D380-47B3-81B6-47A545408755}" presName="iconRect" presStyleLbl="node1" presStyleIdx="2" presStyleCnt="5" custLinFactNeighborX="-5806" custLinFactNeighborY="-4646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Call center"/>
        </a:ext>
      </dgm:extLst>
    </dgm:pt>
    <dgm:pt modelId="{38B1F33B-1F3E-4746-95F2-77DA01B4B0D8}" type="pres">
      <dgm:prSet presAssocID="{08B6D9BF-D380-47B3-81B6-47A545408755}" presName="spaceRect" presStyleCnt="0"/>
      <dgm:spPr/>
    </dgm:pt>
    <dgm:pt modelId="{2D7A8132-1A5E-403C-957E-9EE31D32EBD4}" type="pres">
      <dgm:prSet presAssocID="{08B6D9BF-D380-47B3-81B6-47A545408755}" presName="textRect" presStyleLbl="revTx" presStyleIdx="2" presStyleCnt="5" custScaleX="115738" custLinFactNeighborX="-3323" custLinFactNeighborY="-29089">
        <dgm:presLayoutVars>
          <dgm:chMax val="1"/>
          <dgm:chPref val="1"/>
        </dgm:presLayoutVars>
      </dgm:prSet>
      <dgm:spPr/>
    </dgm:pt>
    <dgm:pt modelId="{F0AC68A0-7379-471C-B0E0-C20CC7148E34}" type="pres">
      <dgm:prSet presAssocID="{DE550B67-699E-402A-912E-07927BEC414E}" presName="sibTrans" presStyleCnt="0"/>
      <dgm:spPr/>
    </dgm:pt>
    <dgm:pt modelId="{1169E22F-5E80-4576-B5D7-5D15D00DB40F}" type="pres">
      <dgm:prSet presAssocID="{1D8ABE1E-7468-4466-B676-076500FC3E89}" presName="compNode" presStyleCnt="0"/>
      <dgm:spPr/>
    </dgm:pt>
    <dgm:pt modelId="{419746A6-48FC-4A07-9131-DA38FFF6F15F}" type="pres">
      <dgm:prSet presAssocID="{1D8ABE1E-7468-4466-B676-076500FC3E89}" presName="iconRect" presStyleLbl="node1" presStyleIdx="3" presStyleCnt="5" custLinFactNeighborX="-16031" custLinFactNeighborY="-5329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Gauge"/>
        </a:ext>
      </dgm:extLst>
    </dgm:pt>
    <dgm:pt modelId="{15DCF168-F610-40F3-8867-F5CDE9868C61}" type="pres">
      <dgm:prSet presAssocID="{1D8ABE1E-7468-4466-B676-076500FC3E89}" presName="spaceRect" presStyleCnt="0"/>
      <dgm:spPr/>
    </dgm:pt>
    <dgm:pt modelId="{35757BA2-C20E-459D-A0A8-1ECCD87344E0}" type="pres">
      <dgm:prSet presAssocID="{1D8ABE1E-7468-4466-B676-076500FC3E89}" presName="textRect" presStyleLbl="revTx" presStyleIdx="3" presStyleCnt="5" custScaleX="114431" custLinFactNeighborX="-6355" custLinFactNeighborY="-29555">
        <dgm:presLayoutVars>
          <dgm:chMax val="1"/>
          <dgm:chPref val="1"/>
        </dgm:presLayoutVars>
      </dgm:prSet>
      <dgm:spPr/>
    </dgm:pt>
    <dgm:pt modelId="{F73C3764-6D61-4697-889B-C4B106CF1542}" type="pres">
      <dgm:prSet presAssocID="{6257BF63-6EE3-43C7-AEC6-4EE58B4961AD}" presName="sibTrans" presStyleCnt="0"/>
      <dgm:spPr/>
    </dgm:pt>
    <dgm:pt modelId="{E73439E8-672B-4D93-96CE-7DAF4491698A}" type="pres">
      <dgm:prSet presAssocID="{D378C19F-7CD1-41CF-B2FC-03A08A4564E1}" presName="compNode" presStyleCnt="0"/>
      <dgm:spPr/>
    </dgm:pt>
    <dgm:pt modelId="{AB131978-E1C3-40A5-AAAA-BF9ACC3F817C}" type="pres">
      <dgm:prSet presAssocID="{D378C19F-7CD1-41CF-B2FC-03A08A4564E1}" presName="iconRect" presStyleLbl="node1" presStyleIdx="4" presStyleCnt="5" custLinFactNeighborX="-14771" custLinFactNeighborY="-4834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Trophy"/>
        </a:ext>
      </dgm:extLst>
    </dgm:pt>
    <dgm:pt modelId="{D768F4F0-EF5E-43E8-99EE-2A5021F52CED}" type="pres">
      <dgm:prSet presAssocID="{D378C19F-7CD1-41CF-B2FC-03A08A4564E1}" presName="spaceRect" presStyleCnt="0"/>
      <dgm:spPr/>
    </dgm:pt>
    <dgm:pt modelId="{64756051-94F1-4907-AB44-628CEA1ED572}" type="pres">
      <dgm:prSet presAssocID="{D378C19F-7CD1-41CF-B2FC-03A08A4564E1}" presName="textRect" presStyleLbl="revTx" presStyleIdx="4" presStyleCnt="5" custScaleX="126791" custLinFactNeighborX="-2757" custLinFactNeighborY="-30576">
        <dgm:presLayoutVars>
          <dgm:chMax val="1"/>
          <dgm:chPref val="1"/>
        </dgm:presLayoutVars>
      </dgm:prSet>
      <dgm:spPr/>
    </dgm:pt>
  </dgm:ptLst>
  <dgm:cxnLst>
    <dgm:cxn modelId="{0423F315-C108-4B48-BF11-0D3B4F9C5393}" srcId="{A8688124-12C8-416E-B3EF-2717D65FAD64}" destId="{08B6D9BF-D380-47B3-81B6-47A545408755}" srcOrd="2" destOrd="0" parTransId="{556F4899-56D9-49E5-A389-E7CFA629C3D3}" sibTransId="{DE550B67-699E-402A-912E-07927BEC414E}"/>
    <dgm:cxn modelId="{1C73AB27-2623-42FA-BD3E-9856A1725250}" type="presOf" srcId="{A8688124-12C8-416E-B3EF-2717D65FAD64}" destId="{822552C4-C72B-4D03-8B17-EDE58482F7FA}" srcOrd="0" destOrd="0" presId="urn:microsoft.com/office/officeart/2018/2/layout/IconLabelList"/>
    <dgm:cxn modelId="{C256BD35-F512-49B8-91CC-D48F07EA416A}" type="presOf" srcId="{2FD9F39D-75B8-488E-B2A1-CBDC056FAE15}" destId="{0B0DE06C-8220-489B-9DC0-8EB53B043D77}" srcOrd="0" destOrd="0" presId="urn:microsoft.com/office/officeart/2018/2/layout/IconLabelList"/>
    <dgm:cxn modelId="{C7297650-2DD9-4243-8478-659596B399C7}" type="presOf" srcId="{D378C19F-7CD1-41CF-B2FC-03A08A4564E1}" destId="{64756051-94F1-4907-AB44-628CEA1ED572}" srcOrd="0" destOrd="0" presId="urn:microsoft.com/office/officeart/2018/2/layout/IconLabelList"/>
    <dgm:cxn modelId="{991941A8-4941-453F-A044-37D7A092186A}" type="presOf" srcId="{AF8A11A3-9250-4667-B00E-0ED693757AF7}" destId="{CCA4DA1A-7332-4F9D-A0B4-8FB40F09FF54}" srcOrd="0" destOrd="0" presId="urn:microsoft.com/office/officeart/2018/2/layout/IconLabelList"/>
    <dgm:cxn modelId="{0D2B8DBA-DC4A-4977-9B47-5663A2CCEDF8}" srcId="{A8688124-12C8-416E-B3EF-2717D65FAD64}" destId="{2FD9F39D-75B8-488E-B2A1-CBDC056FAE15}" srcOrd="0" destOrd="0" parTransId="{49DC40E4-2E78-4D50-9ADD-5A5DE57ABB9D}" sibTransId="{99016933-5C3A-438B-9814-970EC1055BE5}"/>
    <dgm:cxn modelId="{5D807EC2-3A16-4753-BEFC-FD370E628316}" type="presOf" srcId="{08B6D9BF-D380-47B3-81B6-47A545408755}" destId="{2D7A8132-1A5E-403C-957E-9EE31D32EBD4}" srcOrd="0" destOrd="0" presId="urn:microsoft.com/office/officeart/2018/2/layout/IconLabelList"/>
    <dgm:cxn modelId="{6F9D82C4-3BC6-451A-B7D6-B2AEC6F57784}" type="presOf" srcId="{1D8ABE1E-7468-4466-B676-076500FC3E89}" destId="{35757BA2-C20E-459D-A0A8-1ECCD87344E0}" srcOrd="0" destOrd="0" presId="urn:microsoft.com/office/officeart/2018/2/layout/IconLabelList"/>
    <dgm:cxn modelId="{ED5123E1-A8C7-4671-95B6-F9A1CE0CC899}" srcId="{A8688124-12C8-416E-B3EF-2717D65FAD64}" destId="{1D8ABE1E-7468-4466-B676-076500FC3E89}" srcOrd="3" destOrd="0" parTransId="{C716A992-EDF1-45C6-AB36-2ACB8E5C3F9E}" sibTransId="{6257BF63-6EE3-43C7-AEC6-4EE58B4961AD}"/>
    <dgm:cxn modelId="{106944F7-B63A-4FE6-9A38-B6F7403BEBAE}" srcId="{A8688124-12C8-416E-B3EF-2717D65FAD64}" destId="{AF8A11A3-9250-4667-B00E-0ED693757AF7}" srcOrd="1" destOrd="0" parTransId="{49A14865-A576-45FB-8950-F5117CEB5AB4}" sibTransId="{80454612-4605-4662-B454-4577C1719EBE}"/>
    <dgm:cxn modelId="{D3A935F9-357A-42A2-B8D0-DECE3583CC12}" srcId="{A8688124-12C8-416E-B3EF-2717D65FAD64}" destId="{D378C19F-7CD1-41CF-B2FC-03A08A4564E1}" srcOrd="4" destOrd="0" parTransId="{E92659B2-CE32-494A-81AF-85B9AA004CAF}" sibTransId="{B34E9433-8411-4B33-96A4-24D598EE53AF}"/>
    <dgm:cxn modelId="{5B88FE2C-FE1B-452C-A346-4DD0B87BA65B}" type="presParOf" srcId="{822552C4-C72B-4D03-8B17-EDE58482F7FA}" destId="{7EF6B704-0227-4B4D-A654-D67DAC31E58B}" srcOrd="0" destOrd="0" presId="urn:microsoft.com/office/officeart/2018/2/layout/IconLabelList"/>
    <dgm:cxn modelId="{B3C6EF5C-73A3-4FE5-A1A7-24D6A747C6B0}" type="presParOf" srcId="{7EF6B704-0227-4B4D-A654-D67DAC31E58B}" destId="{CC06AA0D-EB88-483A-A824-B573A8088324}" srcOrd="0" destOrd="0" presId="urn:microsoft.com/office/officeart/2018/2/layout/IconLabelList"/>
    <dgm:cxn modelId="{C2DC3E3F-1AC7-4498-8016-E8E09B4E94C6}" type="presParOf" srcId="{7EF6B704-0227-4B4D-A654-D67DAC31E58B}" destId="{14298749-794D-415C-B801-C6A127DC965A}" srcOrd="1" destOrd="0" presId="urn:microsoft.com/office/officeart/2018/2/layout/IconLabelList"/>
    <dgm:cxn modelId="{E7218654-2AD6-4CD0-B451-11D5C090AAA3}" type="presParOf" srcId="{7EF6B704-0227-4B4D-A654-D67DAC31E58B}" destId="{0B0DE06C-8220-489B-9DC0-8EB53B043D77}" srcOrd="2" destOrd="0" presId="urn:microsoft.com/office/officeart/2018/2/layout/IconLabelList"/>
    <dgm:cxn modelId="{587C7DD1-FF8D-40DE-BD34-B74077BEDAC3}" type="presParOf" srcId="{822552C4-C72B-4D03-8B17-EDE58482F7FA}" destId="{09705872-4902-405F-9DB5-2BEB9F5436EB}" srcOrd="1" destOrd="0" presId="urn:microsoft.com/office/officeart/2018/2/layout/IconLabelList"/>
    <dgm:cxn modelId="{7EBA7665-27AB-42F0-8762-4953C0EDC232}" type="presParOf" srcId="{822552C4-C72B-4D03-8B17-EDE58482F7FA}" destId="{EE893162-F85A-46E9-AC2E-720015AB15CF}" srcOrd="2" destOrd="0" presId="urn:microsoft.com/office/officeart/2018/2/layout/IconLabelList"/>
    <dgm:cxn modelId="{FE1244E0-BB98-46D9-90AD-1CE4020FE6E9}" type="presParOf" srcId="{EE893162-F85A-46E9-AC2E-720015AB15CF}" destId="{CA7CA478-9EDA-4BE7-8DA3-9CA99156A330}" srcOrd="0" destOrd="0" presId="urn:microsoft.com/office/officeart/2018/2/layout/IconLabelList"/>
    <dgm:cxn modelId="{A5E3B01C-EEDB-4A13-8F00-2B01115A70B4}" type="presParOf" srcId="{EE893162-F85A-46E9-AC2E-720015AB15CF}" destId="{41D207E0-0479-4E42-ADA6-778AA3BA1A12}" srcOrd="1" destOrd="0" presId="urn:microsoft.com/office/officeart/2018/2/layout/IconLabelList"/>
    <dgm:cxn modelId="{16013A30-0E24-4D75-9D0D-55E69D1D7B72}" type="presParOf" srcId="{EE893162-F85A-46E9-AC2E-720015AB15CF}" destId="{CCA4DA1A-7332-4F9D-A0B4-8FB40F09FF54}" srcOrd="2" destOrd="0" presId="urn:microsoft.com/office/officeart/2018/2/layout/IconLabelList"/>
    <dgm:cxn modelId="{DEBAEE15-2503-4955-A93B-CCC5511F6C2D}" type="presParOf" srcId="{822552C4-C72B-4D03-8B17-EDE58482F7FA}" destId="{06B231AB-53BE-427A-903F-61A3CBF867BE}" srcOrd="3" destOrd="0" presId="urn:microsoft.com/office/officeart/2018/2/layout/IconLabelList"/>
    <dgm:cxn modelId="{363FC952-2BDE-48C6-83E9-2E653FF5112B}" type="presParOf" srcId="{822552C4-C72B-4D03-8B17-EDE58482F7FA}" destId="{B7294B22-F370-400C-92BF-7B193E91EE26}" srcOrd="4" destOrd="0" presId="urn:microsoft.com/office/officeart/2018/2/layout/IconLabelList"/>
    <dgm:cxn modelId="{89497901-67BE-49DA-9965-65A0E2F253C4}" type="presParOf" srcId="{B7294B22-F370-400C-92BF-7B193E91EE26}" destId="{5705ACF5-8F67-4C85-A445-581799C69ED4}" srcOrd="0" destOrd="0" presId="urn:microsoft.com/office/officeart/2018/2/layout/IconLabelList"/>
    <dgm:cxn modelId="{2A07CD9B-1AFF-4875-858E-F82B577F9D12}" type="presParOf" srcId="{B7294B22-F370-400C-92BF-7B193E91EE26}" destId="{38B1F33B-1F3E-4746-95F2-77DA01B4B0D8}" srcOrd="1" destOrd="0" presId="urn:microsoft.com/office/officeart/2018/2/layout/IconLabelList"/>
    <dgm:cxn modelId="{94918557-DA96-4B23-BF6A-133BFB9E5632}" type="presParOf" srcId="{B7294B22-F370-400C-92BF-7B193E91EE26}" destId="{2D7A8132-1A5E-403C-957E-9EE31D32EBD4}" srcOrd="2" destOrd="0" presId="urn:microsoft.com/office/officeart/2018/2/layout/IconLabelList"/>
    <dgm:cxn modelId="{A522F624-7593-4B3A-A486-11D28657A87A}" type="presParOf" srcId="{822552C4-C72B-4D03-8B17-EDE58482F7FA}" destId="{F0AC68A0-7379-471C-B0E0-C20CC7148E34}" srcOrd="5" destOrd="0" presId="urn:microsoft.com/office/officeart/2018/2/layout/IconLabelList"/>
    <dgm:cxn modelId="{909FBEE3-B841-48FF-B50D-E4CCE1691E13}" type="presParOf" srcId="{822552C4-C72B-4D03-8B17-EDE58482F7FA}" destId="{1169E22F-5E80-4576-B5D7-5D15D00DB40F}" srcOrd="6" destOrd="0" presId="urn:microsoft.com/office/officeart/2018/2/layout/IconLabelList"/>
    <dgm:cxn modelId="{FD745250-5C38-44E6-AFF1-79C221FC9D38}" type="presParOf" srcId="{1169E22F-5E80-4576-B5D7-5D15D00DB40F}" destId="{419746A6-48FC-4A07-9131-DA38FFF6F15F}" srcOrd="0" destOrd="0" presId="urn:microsoft.com/office/officeart/2018/2/layout/IconLabelList"/>
    <dgm:cxn modelId="{BB8A9A60-A34C-483B-AB27-AB7E386E02BE}" type="presParOf" srcId="{1169E22F-5E80-4576-B5D7-5D15D00DB40F}" destId="{15DCF168-F610-40F3-8867-F5CDE9868C61}" srcOrd="1" destOrd="0" presId="urn:microsoft.com/office/officeart/2018/2/layout/IconLabelList"/>
    <dgm:cxn modelId="{07C3A389-5EE3-4C9F-BABC-708E289DC78D}" type="presParOf" srcId="{1169E22F-5E80-4576-B5D7-5D15D00DB40F}" destId="{35757BA2-C20E-459D-A0A8-1ECCD87344E0}" srcOrd="2" destOrd="0" presId="urn:microsoft.com/office/officeart/2018/2/layout/IconLabelList"/>
    <dgm:cxn modelId="{E326A92A-E645-4980-AE30-4E548CF8387C}" type="presParOf" srcId="{822552C4-C72B-4D03-8B17-EDE58482F7FA}" destId="{F73C3764-6D61-4697-889B-C4B106CF1542}" srcOrd="7" destOrd="0" presId="urn:microsoft.com/office/officeart/2018/2/layout/IconLabelList"/>
    <dgm:cxn modelId="{790C66D2-63FE-42AA-8478-B0DC65BA379F}" type="presParOf" srcId="{822552C4-C72B-4D03-8B17-EDE58482F7FA}" destId="{E73439E8-672B-4D93-96CE-7DAF4491698A}" srcOrd="8" destOrd="0" presId="urn:microsoft.com/office/officeart/2018/2/layout/IconLabelList"/>
    <dgm:cxn modelId="{3638EBAB-0259-48FD-8F6F-EE3F3D8B208D}" type="presParOf" srcId="{E73439E8-672B-4D93-96CE-7DAF4491698A}" destId="{AB131978-E1C3-40A5-AAAA-BF9ACC3F817C}" srcOrd="0" destOrd="0" presId="urn:microsoft.com/office/officeart/2018/2/layout/IconLabelList"/>
    <dgm:cxn modelId="{4FC043D0-C3DB-4AF1-B414-CE43F1099234}" type="presParOf" srcId="{E73439E8-672B-4D93-96CE-7DAF4491698A}" destId="{D768F4F0-EF5E-43E8-99EE-2A5021F52CED}" srcOrd="1" destOrd="0" presId="urn:microsoft.com/office/officeart/2018/2/layout/IconLabelList"/>
    <dgm:cxn modelId="{480322AA-C410-4055-8C5C-657F4E4C91A1}" type="presParOf" srcId="{E73439E8-672B-4D93-96CE-7DAF4491698A}" destId="{64756051-94F1-4907-AB44-628CEA1ED572}"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C5D410-D0B9-4109-9365-A44D8D87B705}">
      <dsp:nvSpPr>
        <dsp:cNvPr id="0" name=""/>
        <dsp:cNvSpPr/>
      </dsp:nvSpPr>
      <dsp:spPr>
        <a:xfrm>
          <a:off x="319522" y="0"/>
          <a:ext cx="3621255" cy="3416400"/>
        </a:xfrm>
        <a:prstGeom prst="rightArrow">
          <a:avLst/>
        </a:prstGeom>
        <a:solidFill>
          <a:schemeClr val="accent2">
            <a:tint val="40000"/>
            <a:hueOff val="0"/>
            <a:satOff val="0"/>
            <a:lumOff val="0"/>
            <a:alphaOff val="0"/>
          </a:schemeClr>
        </a:solidFill>
        <a:ln>
          <a:noFill/>
        </a:ln>
        <a:effectLst>
          <a:outerShdw blurRad="38100" dist="254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2ED34C04-DE40-4F7D-864E-B1484A092F02}">
      <dsp:nvSpPr>
        <dsp:cNvPr id="0" name=""/>
        <dsp:cNvSpPr/>
      </dsp:nvSpPr>
      <dsp:spPr>
        <a:xfrm>
          <a:off x="361882" y="1043833"/>
          <a:ext cx="2948605" cy="1366560"/>
        </a:xfrm>
        <a:prstGeom prst="roundRect">
          <a:avLst/>
        </a:prstGeom>
        <a:gradFill rotWithShape="0">
          <a:gsLst>
            <a:gs pos="0">
              <a:schemeClr val="accent2">
                <a:hueOff val="0"/>
                <a:satOff val="0"/>
                <a:lumOff val="0"/>
                <a:alphaOff val="0"/>
                <a:tint val="96000"/>
                <a:lumMod val="100000"/>
              </a:schemeClr>
            </a:gs>
            <a:gs pos="78000">
              <a:schemeClr val="accent2">
                <a:hueOff val="0"/>
                <a:satOff val="0"/>
                <a:lumOff val="0"/>
                <a:alphaOff val="0"/>
                <a:shade val="94000"/>
                <a:lumMod val="94000"/>
              </a:schemeClr>
            </a:gs>
          </a:gsLst>
          <a:lin ang="5400000" scaled="0"/>
        </a:gradFill>
        <a:ln>
          <a:noFill/>
        </a:ln>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dsp:spPr>
      <dsp:style>
        <a:lnRef idx="0">
          <a:scrgbClr r="0" g="0" b="0"/>
        </a:lnRef>
        <a:fillRef idx="3">
          <a:scrgbClr r="0" g="0" b="0"/>
        </a:fillRef>
        <a:effectRef idx="3">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t>The chart clearly shows a wide variation in customer satisfaction across gurus. A few gurus consistently achieve high ratings (above 7), while some have significantly lower ratings. This indicates differences in service quality and highlights top-performing and underperforming agents</a:t>
          </a:r>
          <a:r>
            <a:rPr lang="en-US" sz="1300" kern="1200" dirty="0"/>
            <a:t>.</a:t>
          </a:r>
          <a:endParaRPr lang="en-IN" sz="1300" kern="1200" dirty="0"/>
        </a:p>
      </dsp:txBody>
      <dsp:txXfrm>
        <a:off x="428592" y="1110543"/>
        <a:ext cx="2815185" cy="123314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93D7D9-90A3-477A-AFE8-CD2D742119C8}">
      <dsp:nvSpPr>
        <dsp:cNvPr id="0" name=""/>
        <dsp:cNvSpPr/>
      </dsp:nvSpPr>
      <dsp:spPr>
        <a:xfrm rot="5400000">
          <a:off x="-828149" y="828149"/>
          <a:ext cx="3417300" cy="1761000"/>
        </a:xfrm>
        <a:prstGeom prst="chevron">
          <a:avLst/>
        </a:prstGeom>
        <a:solidFill>
          <a:schemeClr val="accent1">
            <a:shade val="80000"/>
            <a:hueOff val="0"/>
            <a:satOff val="0"/>
            <a:lumOff val="0"/>
            <a:alphaOff val="0"/>
          </a:schemeClr>
        </a:solidFill>
        <a:ln w="19050"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The </a:t>
          </a:r>
          <a:r>
            <a:rPr lang="en-US" sz="900" b="1" kern="1200" dirty="0"/>
            <a:t>Call category dominates revenue generation</a:t>
          </a:r>
          <a:r>
            <a:rPr lang="en-US" sz="900" kern="1200" dirty="0"/>
            <a:t>, contributing significantly more than other categories. Chat contributes a moderate share, while Complementary and Public Live Call generate negligible revenue. This indicates that the platform’s primary revenue driver is call-based consultations.</a:t>
          </a:r>
          <a:endParaRPr lang="en-IN" sz="900" kern="1200" dirty="0"/>
        </a:p>
      </dsp:txBody>
      <dsp:txXfrm rot="-5400000">
        <a:off x="1" y="880499"/>
        <a:ext cx="1761000" cy="1656300"/>
      </dsp:txXfrm>
    </dsp:sp>
    <dsp:sp modelId="{1C87DCCC-58A6-40A6-8269-A28F1D4500C9}">
      <dsp:nvSpPr>
        <dsp:cNvPr id="0" name=""/>
        <dsp:cNvSpPr/>
      </dsp:nvSpPr>
      <dsp:spPr>
        <a:xfrm rot="5400000">
          <a:off x="1813350" y="-52349"/>
          <a:ext cx="2536800" cy="2641500"/>
        </a:xfrm>
        <a:prstGeom prst="round2SameRect">
          <a:avLst/>
        </a:prstGeom>
        <a:solidFill>
          <a:schemeClr val="lt1">
            <a:alpha val="90000"/>
            <a:hueOff val="0"/>
            <a:satOff val="0"/>
            <a:lumOff val="0"/>
            <a:alphaOff val="0"/>
          </a:schemeClr>
        </a:solidFill>
        <a:ln w="19050"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1047FD-69CF-457F-B14B-5ABEF195FA89}">
      <dsp:nvSpPr>
        <dsp:cNvPr id="0" name=""/>
        <dsp:cNvSpPr/>
      </dsp:nvSpPr>
      <dsp:spPr>
        <a:xfrm>
          <a:off x="379066" y="1233549"/>
          <a:ext cx="3745649" cy="11521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b="0" i="0" kern="1200" dirty="0"/>
            <a:t>Having a breakdown of call and chat statuses gives a clear view of how customer interactions move through the process, from when they start to when they end. This makes it easier to spot where customers stop engaging, like when they’re busy, the call fails, or they don’t answer. With this information, you can make specific changes to improve the process, boost completion rates, and make operations more efficient.</a:t>
          </a:r>
          <a:endParaRPr lang="en-IN" sz="900" b="0" kern="1200" dirty="0"/>
        </a:p>
      </dsp:txBody>
      <dsp:txXfrm>
        <a:off x="379066" y="1233549"/>
        <a:ext cx="3745649" cy="1152166"/>
      </dsp:txXfrm>
    </dsp:sp>
    <dsp:sp modelId="{6D2A442E-48AF-43DB-ACDC-36A32FAEBDA0}">
      <dsp:nvSpPr>
        <dsp:cNvPr id="0" name=""/>
        <dsp:cNvSpPr/>
      </dsp:nvSpPr>
      <dsp:spPr>
        <a:xfrm>
          <a:off x="599550" y="929679"/>
          <a:ext cx="278109" cy="278109"/>
        </a:xfrm>
        <a:prstGeom prst="ellipse">
          <a:avLst/>
        </a:prstGeom>
        <a:solidFill>
          <a:schemeClr val="accent1">
            <a:alpha val="90000"/>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953E6088-4680-4CED-8D31-7AE68F3AB537}">
      <dsp:nvSpPr>
        <dsp:cNvPr id="0" name=""/>
        <dsp:cNvSpPr/>
      </dsp:nvSpPr>
      <dsp:spPr>
        <a:xfrm>
          <a:off x="794227" y="540326"/>
          <a:ext cx="278109" cy="278109"/>
        </a:xfrm>
        <a:prstGeom prst="ellipse">
          <a:avLst/>
        </a:prstGeom>
        <a:solidFill>
          <a:schemeClr val="accent1">
            <a:alpha val="90000"/>
            <a:hueOff val="0"/>
            <a:satOff val="0"/>
            <a:lumOff val="0"/>
            <a:alphaOff val="-2353"/>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12F3D3CA-4BE8-406E-A5AD-20786A8BE46A}">
      <dsp:nvSpPr>
        <dsp:cNvPr id="0" name=""/>
        <dsp:cNvSpPr/>
      </dsp:nvSpPr>
      <dsp:spPr>
        <a:xfrm>
          <a:off x="1261450" y="618197"/>
          <a:ext cx="437028" cy="437028"/>
        </a:xfrm>
        <a:prstGeom prst="ellipse">
          <a:avLst/>
        </a:prstGeom>
        <a:solidFill>
          <a:schemeClr val="accent1">
            <a:alpha val="90000"/>
            <a:hueOff val="0"/>
            <a:satOff val="0"/>
            <a:lumOff val="0"/>
            <a:alphaOff val="-4706"/>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86495BF9-CA15-42D7-9B45-5364A56E9FCD}">
      <dsp:nvSpPr>
        <dsp:cNvPr id="0" name=""/>
        <dsp:cNvSpPr/>
      </dsp:nvSpPr>
      <dsp:spPr>
        <a:xfrm>
          <a:off x="1650803" y="189909"/>
          <a:ext cx="278109" cy="278109"/>
        </a:xfrm>
        <a:prstGeom prst="ellipse">
          <a:avLst/>
        </a:prstGeom>
        <a:solidFill>
          <a:schemeClr val="accent1">
            <a:alpha val="90000"/>
            <a:hueOff val="0"/>
            <a:satOff val="0"/>
            <a:lumOff val="0"/>
            <a:alphaOff val="-7059"/>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EBAB9608-2274-480F-A98E-B04A1D5B9162}">
      <dsp:nvSpPr>
        <dsp:cNvPr id="0" name=""/>
        <dsp:cNvSpPr/>
      </dsp:nvSpPr>
      <dsp:spPr>
        <a:xfrm>
          <a:off x="2156961" y="34168"/>
          <a:ext cx="278109" cy="278109"/>
        </a:xfrm>
        <a:prstGeom prst="ellipse">
          <a:avLst/>
        </a:prstGeom>
        <a:solidFill>
          <a:schemeClr val="accent1">
            <a:alpha val="90000"/>
            <a:hueOff val="0"/>
            <a:satOff val="0"/>
            <a:lumOff val="0"/>
            <a:alphaOff val="-9412"/>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5E4AC80D-EE75-449D-8D45-7B1B8573254F}">
      <dsp:nvSpPr>
        <dsp:cNvPr id="0" name=""/>
        <dsp:cNvSpPr/>
      </dsp:nvSpPr>
      <dsp:spPr>
        <a:xfrm>
          <a:off x="2779925" y="306715"/>
          <a:ext cx="278109" cy="278109"/>
        </a:xfrm>
        <a:prstGeom prst="ellipse">
          <a:avLst/>
        </a:prstGeom>
        <a:solidFill>
          <a:schemeClr val="accent1">
            <a:alpha val="90000"/>
            <a:hueOff val="0"/>
            <a:satOff val="0"/>
            <a:lumOff val="0"/>
            <a:alphaOff val="-11765"/>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94B717FF-292C-49E0-8DB1-AA4C2827927A}">
      <dsp:nvSpPr>
        <dsp:cNvPr id="0" name=""/>
        <dsp:cNvSpPr/>
      </dsp:nvSpPr>
      <dsp:spPr>
        <a:xfrm>
          <a:off x="3169278" y="501391"/>
          <a:ext cx="437028" cy="437028"/>
        </a:xfrm>
        <a:prstGeom prst="ellipse">
          <a:avLst/>
        </a:prstGeom>
        <a:solidFill>
          <a:schemeClr val="accent1">
            <a:alpha val="90000"/>
            <a:hueOff val="0"/>
            <a:satOff val="0"/>
            <a:lumOff val="0"/>
            <a:alphaOff val="-14118"/>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053C364F-CF08-4CDE-B2EE-F402185253D0}">
      <dsp:nvSpPr>
        <dsp:cNvPr id="0" name=""/>
        <dsp:cNvSpPr/>
      </dsp:nvSpPr>
      <dsp:spPr>
        <a:xfrm>
          <a:off x="3714372" y="929679"/>
          <a:ext cx="278109" cy="278109"/>
        </a:xfrm>
        <a:prstGeom prst="ellipse">
          <a:avLst/>
        </a:prstGeom>
        <a:solidFill>
          <a:schemeClr val="accent1">
            <a:alpha val="90000"/>
            <a:hueOff val="0"/>
            <a:satOff val="0"/>
            <a:lumOff val="0"/>
            <a:alphaOff val="-16471"/>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64E6FAD8-EE3C-416A-99D5-28911B8B4D97}">
      <dsp:nvSpPr>
        <dsp:cNvPr id="0" name=""/>
        <dsp:cNvSpPr/>
      </dsp:nvSpPr>
      <dsp:spPr>
        <a:xfrm>
          <a:off x="4128866" y="1281490"/>
          <a:ext cx="278109" cy="278109"/>
        </a:xfrm>
        <a:prstGeom prst="ellipse">
          <a:avLst/>
        </a:prstGeom>
        <a:solidFill>
          <a:schemeClr val="accent1">
            <a:alpha val="90000"/>
            <a:hueOff val="0"/>
            <a:satOff val="0"/>
            <a:lumOff val="0"/>
            <a:alphaOff val="-18824"/>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7D389DFF-94C4-4BD3-ACB4-06659825490F}">
      <dsp:nvSpPr>
        <dsp:cNvPr id="0" name=""/>
        <dsp:cNvSpPr/>
      </dsp:nvSpPr>
      <dsp:spPr>
        <a:xfrm>
          <a:off x="1923350" y="540326"/>
          <a:ext cx="715137" cy="715137"/>
        </a:xfrm>
        <a:prstGeom prst="ellipse">
          <a:avLst/>
        </a:prstGeom>
        <a:solidFill>
          <a:schemeClr val="accent1">
            <a:alpha val="90000"/>
            <a:hueOff val="0"/>
            <a:satOff val="0"/>
            <a:lumOff val="0"/>
            <a:alphaOff val="-21176"/>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358649D4-5364-4BF5-982F-56F6AA93DAE6}">
      <dsp:nvSpPr>
        <dsp:cNvPr id="0" name=""/>
        <dsp:cNvSpPr/>
      </dsp:nvSpPr>
      <dsp:spPr>
        <a:xfrm>
          <a:off x="195391" y="2096341"/>
          <a:ext cx="278109" cy="278109"/>
        </a:xfrm>
        <a:prstGeom prst="ellipse">
          <a:avLst/>
        </a:prstGeom>
        <a:solidFill>
          <a:schemeClr val="accent1">
            <a:alpha val="90000"/>
            <a:hueOff val="0"/>
            <a:satOff val="0"/>
            <a:lumOff val="0"/>
            <a:alphaOff val="-23529"/>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CA96DC16-552A-4B52-BB5E-4AF6770ED141}">
      <dsp:nvSpPr>
        <dsp:cNvPr id="0" name=""/>
        <dsp:cNvSpPr/>
      </dsp:nvSpPr>
      <dsp:spPr>
        <a:xfrm>
          <a:off x="638486" y="2370284"/>
          <a:ext cx="437028" cy="437028"/>
        </a:xfrm>
        <a:prstGeom prst="ellipse">
          <a:avLst/>
        </a:prstGeom>
        <a:solidFill>
          <a:schemeClr val="accent1">
            <a:alpha val="90000"/>
            <a:hueOff val="0"/>
            <a:satOff val="0"/>
            <a:lumOff val="0"/>
            <a:alphaOff val="-25882"/>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B6BC3B07-998A-45C1-989D-9C7E42B4F095}">
      <dsp:nvSpPr>
        <dsp:cNvPr id="0" name=""/>
        <dsp:cNvSpPr/>
      </dsp:nvSpPr>
      <dsp:spPr>
        <a:xfrm>
          <a:off x="1222515" y="2681766"/>
          <a:ext cx="635677" cy="635677"/>
        </a:xfrm>
        <a:prstGeom prst="ellipse">
          <a:avLst/>
        </a:prstGeom>
        <a:solidFill>
          <a:schemeClr val="accent1">
            <a:alpha val="90000"/>
            <a:hueOff val="0"/>
            <a:satOff val="0"/>
            <a:lumOff val="0"/>
            <a:alphaOff val="-28235"/>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255A065F-05F7-4DF2-BD4A-6A8D1E28D457}">
      <dsp:nvSpPr>
        <dsp:cNvPr id="0" name=""/>
        <dsp:cNvSpPr/>
      </dsp:nvSpPr>
      <dsp:spPr>
        <a:xfrm>
          <a:off x="2040155" y="3187925"/>
          <a:ext cx="278109" cy="278109"/>
        </a:xfrm>
        <a:prstGeom prst="ellipse">
          <a:avLst/>
        </a:prstGeom>
        <a:solidFill>
          <a:schemeClr val="accent1">
            <a:alpha val="90000"/>
            <a:hueOff val="0"/>
            <a:satOff val="0"/>
            <a:lumOff val="0"/>
            <a:alphaOff val="-30588"/>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2E7A3F33-000D-4493-992E-7516C5ADA46D}">
      <dsp:nvSpPr>
        <dsp:cNvPr id="0" name=""/>
        <dsp:cNvSpPr/>
      </dsp:nvSpPr>
      <dsp:spPr>
        <a:xfrm>
          <a:off x="2195896" y="2681766"/>
          <a:ext cx="437028" cy="437028"/>
        </a:xfrm>
        <a:prstGeom prst="ellipse">
          <a:avLst/>
        </a:prstGeom>
        <a:solidFill>
          <a:schemeClr val="accent1">
            <a:alpha val="90000"/>
            <a:hueOff val="0"/>
            <a:satOff val="0"/>
            <a:lumOff val="0"/>
            <a:alphaOff val="-32941"/>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4F07F66A-410A-4AAB-8E48-8620257FD7AB}">
      <dsp:nvSpPr>
        <dsp:cNvPr id="0" name=""/>
        <dsp:cNvSpPr/>
      </dsp:nvSpPr>
      <dsp:spPr>
        <a:xfrm>
          <a:off x="2585249" y="3226860"/>
          <a:ext cx="278109" cy="278109"/>
        </a:xfrm>
        <a:prstGeom prst="ellipse">
          <a:avLst/>
        </a:prstGeom>
        <a:solidFill>
          <a:schemeClr val="accent1">
            <a:alpha val="90000"/>
            <a:hueOff val="0"/>
            <a:satOff val="0"/>
            <a:lumOff val="0"/>
            <a:alphaOff val="-35294"/>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5757EA0E-2522-4668-AE02-F508B7D930AF}">
      <dsp:nvSpPr>
        <dsp:cNvPr id="0" name=""/>
        <dsp:cNvSpPr/>
      </dsp:nvSpPr>
      <dsp:spPr>
        <a:xfrm>
          <a:off x="2935667" y="2603896"/>
          <a:ext cx="635677" cy="635677"/>
        </a:xfrm>
        <a:prstGeom prst="ellipse">
          <a:avLst/>
        </a:prstGeom>
        <a:solidFill>
          <a:schemeClr val="accent1">
            <a:alpha val="90000"/>
            <a:hueOff val="0"/>
            <a:satOff val="0"/>
            <a:lumOff val="0"/>
            <a:alphaOff val="-37647"/>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2D0271D5-183C-4756-9FFB-CE4101D9C7C1}">
      <dsp:nvSpPr>
        <dsp:cNvPr id="0" name=""/>
        <dsp:cNvSpPr/>
      </dsp:nvSpPr>
      <dsp:spPr>
        <a:xfrm>
          <a:off x="3792242" y="2448155"/>
          <a:ext cx="437028" cy="437028"/>
        </a:xfrm>
        <a:prstGeom prst="ellipse">
          <a:avLst/>
        </a:prstGeom>
        <a:solidFill>
          <a:schemeClr val="accent1">
            <a:alpha val="90000"/>
            <a:hueOff val="0"/>
            <a:satOff val="0"/>
            <a:lumOff val="0"/>
            <a:alphaOff val="-4000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C5FB94-9A9F-4A71-999A-39C0F7961ECD}">
      <dsp:nvSpPr>
        <dsp:cNvPr id="0" name=""/>
        <dsp:cNvSpPr/>
      </dsp:nvSpPr>
      <dsp:spPr>
        <a:xfrm>
          <a:off x="1801" y="946563"/>
          <a:ext cx="1575474" cy="1575474"/>
        </a:xfrm>
        <a:prstGeom prst="ellipse">
          <a:avLst/>
        </a:prstGeom>
        <a:solidFill>
          <a:schemeClr val="accent2">
            <a:shade val="80000"/>
            <a:alpha val="50000"/>
            <a:hueOff val="0"/>
            <a:satOff val="0"/>
            <a:lumOff val="0"/>
            <a:alphaOff val="0"/>
          </a:schemeClr>
        </a:solidFill>
        <a:ln>
          <a:noFill/>
        </a:ln>
        <a:effectLst/>
        <a:scene3d>
          <a:camera prst="orthographicFront">
            <a:rot lat="0" lon="0" rev="0"/>
          </a:camera>
          <a:lightRig rig="contrasting" dir="t">
            <a:rot lat="0" lon="0" rev="1200000"/>
          </a:lightRig>
        </a:scene3d>
        <a:sp3d contourW="12700" prstMaterial="clear">
          <a:bevelT w="177800" h="254000"/>
          <a:bevelB w="152400"/>
        </a:sp3d>
      </dsp:spPr>
      <dsp:style>
        <a:lnRef idx="0">
          <a:scrgbClr r="0" g="0" b="0"/>
        </a:lnRef>
        <a:fillRef idx="1">
          <a:scrgbClr r="0" g="0" b="0"/>
        </a:fillRef>
        <a:effectRef idx="0">
          <a:scrgbClr r="0" g="0" b="0"/>
        </a:effectRef>
        <a:fontRef idx="minor">
          <a:schemeClr val="tx1"/>
        </a:fontRef>
      </dsp:style>
      <dsp:txBody>
        <a:bodyPr spcFirstLastPara="0" vert="horz" wrap="square" lIns="86704" tIns="11430" rIns="86704" bIns="11430" numCol="1" spcCol="1270" anchor="ctr" anchorCtr="0">
          <a:noAutofit/>
        </a:bodyPr>
        <a:lstStyle/>
        <a:p>
          <a:pPr marL="0" lvl="0" indent="0" algn="ctr" defTabSz="400050">
            <a:lnSpc>
              <a:spcPct val="90000"/>
            </a:lnSpc>
            <a:spcBef>
              <a:spcPct val="0"/>
            </a:spcBef>
            <a:spcAft>
              <a:spcPct val="35000"/>
            </a:spcAft>
            <a:buNone/>
          </a:pPr>
          <a:r>
            <a:rPr lang="en-US" sz="900" kern="1200" dirty="0"/>
            <a:t>Call volume increases in the morning and peaks between 7 AM, especially around 8 AM.</a:t>
          </a:r>
          <a:endParaRPr lang="en-IN" sz="900" kern="1200" dirty="0"/>
        </a:p>
      </dsp:txBody>
      <dsp:txXfrm>
        <a:off x="232524" y="1177286"/>
        <a:ext cx="1114028" cy="1114028"/>
      </dsp:txXfrm>
    </dsp:sp>
    <dsp:sp modelId="{955BE42E-0FA4-4305-987E-E50284420701}">
      <dsp:nvSpPr>
        <dsp:cNvPr id="0" name=""/>
        <dsp:cNvSpPr/>
      </dsp:nvSpPr>
      <dsp:spPr>
        <a:xfrm>
          <a:off x="1262181" y="946563"/>
          <a:ext cx="1575474" cy="1575474"/>
        </a:xfrm>
        <a:prstGeom prst="ellipse">
          <a:avLst/>
        </a:prstGeom>
        <a:solidFill>
          <a:schemeClr val="accent2">
            <a:shade val="80000"/>
            <a:alpha val="50000"/>
            <a:hueOff val="386253"/>
            <a:satOff val="-14863"/>
            <a:lumOff val="27589"/>
            <a:alphaOff val="0"/>
          </a:schemeClr>
        </a:solidFill>
        <a:ln>
          <a:noFill/>
        </a:ln>
        <a:effectLst/>
        <a:scene3d>
          <a:camera prst="orthographicFront">
            <a:rot lat="0" lon="0" rev="0"/>
          </a:camera>
          <a:lightRig rig="contrasting" dir="t">
            <a:rot lat="0" lon="0" rev="1200000"/>
          </a:lightRig>
        </a:scene3d>
        <a:sp3d contourW="12700" prstMaterial="clear">
          <a:bevelT w="177800" h="254000"/>
          <a:bevelB w="152400"/>
        </a:sp3d>
      </dsp:spPr>
      <dsp:style>
        <a:lnRef idx="0">
          <a:scrgbClr r="0" g="0" b="0"/>
        </a:lnRef>
        <a:fillRef idx="1">
          <a:scrgbClr r="0" g="0" b="0"/>
        </a:fillRef>
        <a:effectRef idx="0">
          <a:scrgbClr r="0" g="0" b="0"/>
        </a:effectRef>
        <a:fontRef idx="minor">
          <a:schemeClr val="tx1"/>
        </a:fontRef>
      </dsp:style>
      <dsp:txBody>
        <a:bodyPr spcFirstLastPara="0" vert="horz" wrap="square" lIns="86704" tIns="11430" rIns="86704" bIns="11430" numCol="1" spcCol="1270" anchor="ctr" anchorCtr="0">
          <a:noAutofit/>
        </a:bodyPr>
        <a:lstStyle/>
        <a:p>
          <a:pPr marL="0" lvl="0" indent="0" algn="ctr" defTabSz="400050">
            <a:lnSpc>
              <a:spcPct val="90000"/>
            </a:lnSpc>
            <a:spcBef>
              <a:spcPct val="0"/>
            </a:spcBef>
            <a:spcAft>
              <a:spcPct val="35000"/>
            </a:spcAft>
            <a:buNone/>
          </a:pPr>
          <a:r>
            <a:rPr lang="en-US" sz="900" kern="1200"/>
            <a:t>Peak hours show higher Busy, Failed, and No-Answer calls due to demand exceeding agent capacity.</a:t>
          </a:r>
          <a:endParaRPr lang="en-IN" sz="900" kern="1200"/>
        </a:p>
      </dsp:txBody>
      <dsp:txXfrm>
        <a:off x="1492904" y="1177286"/>
        <a:ext cx="1114028" cy="1114028"/>
      </dsp:txXfrm>
    </dsp:sp>
    <dsp:sp modelId="{35CE918C-5DD5-48CA-888B-84C6CD9A178E}">
      <dsp:nvSpPr>
        <dsp:cNvPr id="0" name=""/>
        <dsp:cNvSpPr/>
      </dsp:nvSpPr>
      <dsp:spPr>
        <a:xfrm>
          <a:off x="2522560" y="946563"/>
          <a:ext cx="1575474" cy="1575474"/>
        </a:xfrm>
        <a:prstGeom prst="ellipse">
          <a:avLst/>
        </a:prstGeom>
        <a:solidFill>
          <a:schemeClr val="accent2">
            <a:shade val="80000"/>
            <a:alpha val="50000"/>
            <a:hueOff val="386253"/>
            <a:satOff val="-14863"/>
            <a:lumOff val="27589"/>
            <a:alphaOff val="0"/>
          </a:schemeClr>
        </a:solidFill>
        <a:ln>
          <a:noFill/>
        </a:ln>
        <a:effectLst/>
        <a:scene3d>
          <a:camera prst="orthographicFront">
            <a:rot lat="0" lon="0" rev="0"/>
          </a:camera>
          <a:lightRig rig="contrasting" dir="t">
            <a:rot lat="0" lon="0" rev="1200000"/>
          </a:lightRig>
        </a:scene3d>
        <a:sp3d contourW="12700" prstMaterial="clear">
          <a:bevelT w="177800" h="254000"/>
          <a:bevelB w="152400"/>
        </a:sp3d>
      </dsp:spPr>
      <dsp:style>
        <a:lnRef idx="0">
          <a:scrgbClr r="0" g="0" b="0"/>
        </a:lnRef>
        <a:fillRef idx="1">
          <a:scrgbClr r="0" g="0" b="0"/>
        </a:fillRef>
        <a:effectRef idx="0">
          <a:scrgbClr r="0" g="0" b="0"/>
        </a:effectRef>
        <a:fontRef idx="minor">
          <a:schemeClr val="tx1"/>
        </a:fontRef>
      </dsp:style>
      <dsp:txBody>
        <a:bodyPr spcFirstLastPara="0" vert="horz" wrap="square" lIns="86704" tIns="11430" rIns="86704" bIns="11430" numCol="1" spcCol="1270" anchor="ctr" anchorCtr="0">
          <a:noAutofit/>
        </a:bodyPr>
        <a:lstStyle/>
        <a:p>
          <a:pPr marL="0" lvl="0" indent="0" algn="ctr" defTabSz="400050">
            <a:lnSpc>
              <a:spcPct val="90000"/>
            </a:lnSpc>
            <a:spcBef>
              <a:spcPct val="0"/>
            </a:spcBef>
            <a:spcAft>
              <a:spcPct val="35000"/>
            </a:spcAft>
            <a:buNone/>
          </a:pPr>
          <a:r>
            <a:rPr lang="en-US" sz="900" kern="1200"/>
            <a:t>Evening and late-night hours have low call volumes, revealing workload imbalance and underutilized resources.</a:t>
          </a:r>
          <a:endParaRPr lang="en-IN" sz="900" kern="1200"/>
        </a:p>
      </dsp:txBody>
      <dsp:txXfrm>
        <a:off x="2753283" y="1177286"/>
        <a:ext cx="1114028" cy="111402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228871-2114-42DE-8BDC-8CBC6309472D}">
      <dsp:nvSpPr>
        <dsp:cNvPr id="0" name=""/>
        <dsp:cNvSpPr/>
      </dsp:nvSpPr>
      <dsp:spPr>
        <a:xfrm>
          <a:off x="257770" y="1616"/>
          <a:ext cx="3176167" cy="3176167"/>
        </a:xfrm>
        <a:prstGeom prst="ellipse">
          <a:avLst/>
        </a:prstGeom>
        <a:solidFill>
          <a:schemeClr val="accent1">
            <a:shade val="80000"/>
            <a:alpha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74795" tIns="12700" rIns="174795" bIns="12700" numCol="1" spcCol="1270" anchor="ctr" anchorCtr="0">
          <a:noAutofit/>
        </a:bodyPr>
        <a:lstStyle/>
        <a:p>
          <a:pPr marL="0" lvl="0" indent="0" algn="ctr" defTabSz="444500">
            <a:lnSpc>
              <a:spcPct val="90000"/>
            </a:lnSpc>
            <a:spcBef>
              <a:spcPct val="0"/>
            </a:spcBef>
            <a:spcAft>
              <a:spcPct val="35000"/>
            </a:spcAft>
            <a:buNone/>
          </a:pPr>
          <a:r>
            <a:rPr lang="en-US" sz="1000" kern="1200"/>
            <a:t>The chart shows that customers mainly use one method to interact, with most consultations coming from a single platform. This means customers are relying heavily on just one channel, which could be risky if that platform experiences any problems. Using the app, website, and dashboard together can help reach more customers, spread out the traffic more evenly, and make the service more dependable overall.</a:t>
          </a:r>
          <a:endParaRPr lang="en-IN" sz="1000" kern="1200"/>
        </a:p>
      </dsp:txBody>
      <dsp:txXfrm>
        <a:off x="722909" y="466755"/>
        <a:ext cx="2245889" cy="224588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C85CCB-1920-4B54-8542-D25FB94953AD}">
      <dsp:nvSpPr>
        <dsp:cNvPr id="0" name=""/>
        <dsp:cNvSpPr/>
      </dsp:nvSpPr>
      <dsp:spPr>
        <a:xfrm>
          <a:off x="597293" y="276743"/>
          <a:ext cx="2905812" cy="2905812"/>
        </a:xfrm>
        <a:prstGeom prst="ellipse">
          <a:avLst/>
        </a:prstGeom>
        <a:gradFill rotWithShape="0">
          <a:gsLst>
            <a:gs pos="0">
              <a:schemeClr val="lt1">
                <a:hueOff val="0"/>
                <a:satOff val="0"/>
                <a:lumOff val="0"/>
                <a:alphaOff val="0"/>
                <a:tint val="96000"/>
                <a:lumMod val="100000"/>
              </a:schemeClr>
            </a:gs>
            <a:gs pos="78000">
              <a:schemeClr val="l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dirty="0"/>
            <a:t>Top-performing agents deliver better customer satisfaction because they solve problems quickly and keep calls within a good time frame. Agents who don’t perform as well tend to handle calls in an uneven way—either taking too long or not giving enough attention. The differences in how well agents perform point to skill and process issues, not a lack of staff. This shows that managing conversations well has a bigger impact on customer satisfaction than simply handling more calls.</a:t>
          </a:r>
          <a:endParaRPr lang="en-IN" sz="900" kern="1200" dirty="0"/>
        </a:p>
      </dsp:txBody>
      <dsp:txXfrm>
        <a:off x="1081595" y="761045"/>
        <a:ext cx="1937208" cy="1937208"/>
      </dsp:txXfrm>
    </dsp:sp>
    <dsp:sp modelId="{CC2223DF-96EC-4C9B-A915-8ADA94DA1B97}">
      <dsp:nvSpPr>
        <dsp:cNvPr id="0" name=""/>
        <dsp:cNvSpPr/>
      </dsp:nvSpPr>
      <dsp:spPr>
        <a:xfrm>
          <a:off x="435410" y="96748"/>
          <a:ext cx="3265579" cy="3265579"/>
        </a:xfrm>
        <a:prstGeom prst="circularArrow">
          <a:avLst>
            <a:gd name="adj1" fmla="val 5085"/>
            <a:gd name="adj2" fmla="val 327528"/>
            <a:gd name="adj3" fmla="val 15829880"/>
            <a:gd name="adj4" fmla="val 16242591"/>
            <a:gd name="adj5" fmla="val 5932"/>
          </a:avLst>
        </a:prstGeom>
        <a:gradFill rotWithShape="0">
          <a:gsLst>
            <a:gs pos="0">
              <a:schemeClr val="accent1">
                <a:tint val="60000"/>
                <a:hueOff val="0"/>
                <a:satOff val="0"/>
                <a:lumOff val="0"/>
                <a:alphaOff val="0"/>
                <a:tint val="96000"/>
                <a:lumMod val="100000"/>
              </a:schemeClr>
            </a:gs>
            <a:gs pos="78000">
              <a:schemeClr val="accent1">
                <a:tint val="60000"/>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a:scene3d>
          <a:camera prst="orthographicFront"/>
          <a:lightRig rig="flat" dir="t"/>
        </a:scene3d>
        <a:sp3d z="127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06AA0D-EB88-483A-A824-B573A8088324}">
      <dsp:nvSpPr>
        <dsp:cNvPr id="0" name=""/>
        <dsp:cNvSpPr/>
      </dsp:nvSpPr>
      <dsp:spPr>
        <a:xfrm>
          <a:off x="397192" y="715154"/>
          <a:ext cx="587724" cy="58772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a:effectLst>
          <a:outerShdw blurRad="38100" dist="254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0B0DE06C-8220-489B-9DC0-8EB53B043D77}">
      <dsp:nvSpPr>
        <dsp:cNvPr id="0" name=""/>
        <dsp:cNvSpPr/>
      </dsp:nvSpPr>
      <dsp:spPr>
        <a:xfrm>
          <a:off x="21920" y="1547599"/>
          <a:ext cx="1422763" cy="1724728"/>
        </a:xfrm>
        <a:prstGeom prst="rect">
          <a:avLst/>
        </a:prstGeom>
        <a:noFill/>
        <a:ln w="12700" cap="rnd"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1" kern="1200" dirty="0">
              <a:solidFill>
                <a:schemeClr val="tx2"/>
              </a:solidFill>
            </a:rPr>
            <a:t>1</a:t>
          </a:r>
          <a:r>
            <a:rPr lang="en-US" sz="1100" b="1" kern="1200" dirty="0"/>
            <a:t>. </a:t>
          </a:r>
          <a:r>
            <a:rPr lang="en-US" sz="1200" b="1" kern="1200" dirty="0">
              <a:solidFill>
                <a:schemeClr val="tx2"/>
              </a:solidFill>
            </a:rPr>
            <a:t>Workforce &amp; Workload Management</a:t>
          </a:r>
          <a:br>
            <a:rPr lang="en-US" sz="1200" kern="1200" dirty="0"/>
          </a:br>
          <a:r>
            <a:rPr lang="en-US" sz="1200" kern="1200" dirty="0"/>
            <a:t>     </a:t>
          </a:r>
          <a:r>
            <a:rPr lang="en-US" sz="1200" b="1" kern="1200" dirty="0"/>
            <a:t>Implement intelligent workload distribution and peak-hour staffing</a:t>
          </a:r>
          <a:r>
            <a:rPr lang="en-US" sz="1200" kern="1200" dirty="0"/>
            <a:t> to balance agent capacity, prevent burnout, and maintain consistent service quality.</a:t>
          </a:r>
          <a:endParaRPr lang="en-IN" sz="1200" kern="1200" dirty="0"/>
        </a:p>
      </dsp:txBody>
      <dsp:txXfrm>
        <a:off x="21920" y="1547599"/>
        <a:ext cx="1422763" cy="1724728"/>
      </dsp:txXfrm>
    </dsp:sp>
    <dsp:sp modelId="{CA7CA478-9EDA-4BE7-8DA3-9CA99156A330}">
      <dsp:nvSpPr>
        <dsp:cNvPr id="0" name=""/>
        <dsp:cNvSpPr/>
      </dsp:nvSpPr>
      <dsp:spPr>
        <a:xfrm>
          <a:off x="2158047" y="685377"/>
          <a:ext cx="587724" cy="58772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a:outerShdw blurRad="38100" dist="254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CCA4DA1A-7332-4F9D-A0B4-8FB40F09FF54}">
      <dsp:nvSpPr>
        <dsp:cNvPr id="0" name=""/>
        <dsp:cNvSpPr/>
      </dsp:nvSpPr>
      <dsp:spPr>
        <a:xfrm>
          <a:off x="1608502" y="1524619"/>
          <a:ext cx="1605389" cy="1920920"/>
        </a:xfrm>
        <a:prstGeom prst="rect">
          <a:avLst/>
        </a:prstGeom>
        <a:noFill/>
        <a:ln w="12700" cap="rnd"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US" sz="1200" b="1" kern="1200" dirty="0">
              <a:solidFill>
                <a:schemeClr val="tx2"/>
              </a:solidFill>
            </a:rPr>
            <a:t>2</a:t>
          </a:r>
          <a:r>
            <a:rPr lang="en-US" sz="1200" b="1" kern="1200" dirty="0"/>
            <a:t>. </a:t>
          </a:r>
          <a:r>
            <a:rPr lang="en-US" sz="1200" b="1" kern="1200" dirty="0">
              <a:solidFill>
                <a:schemeClr val="tx2"/>
              </a:solidFill>
            </a:rPr>
            <a:t>Performance Improvement &amp; Training</a:t>
          </a:r>
          <a:br>
            <a:rPr lang="en-US" sz="1200" kern="1200" dirty="0"/>
          </a:br>
          <a:r>
            <a:rPr lang="en-US" sz="1200" b="1" kern="1200" dirty="0"/>
            <a:t>Introduce targeted skill-based training programs</a:t>
          </a:r>
          <a:r>
            <a:rPr lang="en-US" sz="1200" kern="1200" dirty="0"/>
            <a:t> using best-performing agents’ practices to improve communication, efficiency, and problem resolution.</a:t>
          </a:r>
          <a:endParaRPr lang="en-IN" sz="1200" kern="1200" dirty="0"/>
        </a:p>
      </dsp:txBody>
      <dsp:txXfrm>
        <a:off x="1608502" y="1524619"/>
        <a:ext cx="1605389" cy="1920920"/>
      </dsp:txXfrm>
    </dsp:sp>
    <dsp:sp modelId="{5705ACF5-8F67-4C85-A445-581799C69ED4}">
      <dsp:nvSpPr>
        <dsp:cNvPr id="0" name=""/>
        <dsp:cNvSpPr/>
      </dsp:nvSpPr>
      <dsp:spPr>
        <a:xfrm>
          <a:off x="3913653" y="713021"/>
          <a:ext cx="587724" cy="58772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a:effectLst>
          <a:outerShdw blurRad="38100" dist="254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2D7A8132-1A5E-403C-957E-9EE31D32EBD4}">
      <dsp:nvSpPr>
        <dsp:cNvPr id="0" name=""/>
        <dsp:cNvSpPr/>
      </dsp:nvSpPr>
      <dsp:spPr>
        <a:xfrm>
          <a:off x="3442438" y="1538972"/>
          <a:ext cx="1511601" cy="1212182"/>
        </a:xfrm>
        <a:prstGeom prst="rect">
          <a:avLst/>
        </a:prstGeom>
        <a:noFill/>
        <a:ln w="12700" cap="rnd"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US" sz="1200" b="1" kern="1200" dirty="0">
              <a:solidFill>
                <a:schemeClr val="tx2"/>
              </a:solidFill>
            </a:rPr>
            <a:t>3</a:t>
          </a:r>
          <a:r>
            <a:rPr lang="en-US" sz="1200" b="1" kern="1200" dirty="0"/>
            <a:t>. </a:t>
          </a:r>
          <a:r>
            <a:rPr lang="en-US" sz="1200" b="1" kern="1200" dirty="0">
              <a:solidFill>
                <a:schemeClr val="tx2"/>
              </a:solidFill>
            </a:rPr>
            <a:t>Customer Satisfaction Enhancement</a:t>
          </a:r>
          <a:br>
            <a:rPr lang="en-US" sz="1200" kern="1200" dirty="0"/>
          </a:br>
          <a:r>
            <a:rPr lang="en-US" sz="1200" b="1" kern="1200" dirty="0"/>
            <a:t>Improve customer experience by reducing wait times</a:t>
          </a:r>
          <a:r>
            <a:rPr lang="en-US" sz="1200" kern="1200" dirty="0"/>
            <a:t> through callback options and enabling agents with faster problem-solving tools.</a:t>
          </a:r>
          <a:endParaRPr lang="en-IN" sz="1200" kern="1200" dirty="0"/>
        </a:p>
      </dsp:txBody>
      <dsp:txXfrm>
        <a:off x="3442438" y="1538972"/>
        <a:ext cx="1511601" cy="1212182"/>
      </dsp:txXfrm>
    </dsp:sp>
    <dsp:sp modelId="{419746A6-48FC-4A07-9131-DA38FFF6F15F}">
      <dsp:nvSpPr>
        <dsp:cNvPr id="0" name=""/>
        <dsp:cNvSpPr/>
      </dsp:nvSpPr>
      <dsp:spPr>
        <a:xfrm>
          <a:off x="5585185" y="672856"/>
          <a:ext cx="587724" cy="58772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a:outerShdw blurRad="38100" dist="254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35757BA2-C20E-459D-A0A8-1ECCD87344E0}">
      <dsp:nvSpPr>
        <dsp:cNvPr id="0" name=""/>
        <dsp:cNvSpPr/>
      </dsp:nvSpPr>
      <dsp:spPr>
        <a:xfrm>
          <a:off x="5143000" y="1533323"/>
          <a:ext cx="1494531" cy="1212182"/>
        </a:xfrm>
        <a:prstGeom prst="rect">
          <a:avLst/>
        </a:prstGeom>
        <a:noFill/>
        <a:ln w="12700" cap="rnd"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US" sz="1200" b="1" kern="1200" dirty="0">
              <a:solidFill>
                <a:schemeClr val="tx2"/>
              </a:solidFill>
            </a:rPr>
            <a:t>4. Monitoring &amp; Data-Driven Decision Making</a:t>
          </a:r>
          <a:br>
            <a:rPr lang="en-US" sz="1200" kern="1200" dirty="0"/>
          </a:br>
          <a:r>
            <a:rPr lang="en-US" sz="1200" b="1" kern="1200" dirty="0"/>
            <a:t>Adopt real-time performance dashboards</a:t>
          </a:r>
          <a:r>
            <a:rPr lang="en-US" sz="1200" kern="1200" dirty="0"/>
            <a:t> to continuously monitor workload, agent performance, and customer satisfaction for proactive decision-making.</a:t>
          </a:r>
          <a:endParaRPr lang="en-IN" sz="1200" kern="1200" dirty="0"/>
        </a:p>
      </dsp:txBody>
      <dsp:txXfrm>
        <a:off x="5143000" y="1533323"/>
        <a:ext cx="1494531" cy="1212182"/>
      </dsp:txXfrm>
    </dsp:sp>
    <dsp:sp modelId="{AB131978-E1C3-40A5-AAAA-BF9ACC3F817C}">
      <dsp:nvSpPr>
        <dsp:cNvPr id="0" name=""/>
        <dsp:cNvSpPr/>
      </dsp:nvSpPr>
      <dsp:spPr>
        <a:xfrm>
          <a:off x="7396395" y="701972"/>
          <a:ext cx="587724" cy="58772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a:effectLst>
          <a:outerShdw blurRad="38100" dist="254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64756051-94F1-4907-AB44-628CEA1ED572}">
      <dsp:nvSpPr>
        <dsp:cNvPr id="0" name=""/>
        <dsp:cNvSpPr/>
      </dsp:nvSpPr>
      <dsp:spPr>
        <a:xfrm>
          <a:off x="6913082" y="1520947"/>
          <a:ext cx="1655959" cy="1212182"/>
        </a:xfrm>
        <a:prstGeom prst="rect">
          <a:avLst/>
        </a:prstGeom>
        <a:noFill/>
        <a:ln w="12700" cap="rnd"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US" sz="1200" b="1" kern="1200" dirty="0">
              <a:solidFill>
                <a:schemeClr val="tx2"/>
              </a:solidFill>
            </a:rPr>
            <a:t>5. Motivation, Incentives &amp; Strategic Analysis</a:t>
          </a:r>
          <a:br>
            <a:rPr lang="en-US" sz="1200" kern="1200" dirty="0"/>
          </a:br>
          <a:r>
            <a:rPr lang="en-US" sz="1200" b="1" kern="1200" dirty="0"/>
            <a:t>Establish performance-based incentive and recognition programs</a:t>
          </a:r>
          <a:r>
            <a:rPr lang="en-US" sz="1200" kern="1200" dirty="0"/>
            <a:t> to boost agent motivation, productivity, and long-term service quality.</a:t>
          </a:r>
          <a:endParaRPr lang="en-IN" sz="1200" kern="1200" dirty="0"/>
        </a:p>
      </dsp:txBody>
      <dsp:txXfrm>
        <a:off x="6913082" y="1520947"/>
        <a:ext cx="1655959" cy="1212182"/>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9/3/layout/RandomtoResultProcess">
  <dgm:title val=""/>
  <dgm:desc val=""/>
  <dgm:catLst>
    <dgm:cat type="process" pri="1275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41" srcId="1" destId="11" srcOrd="0" destOrd="0"/>
        <dgm:cxn modelId="5" srcId="0" destId="2" srcOrd="0" destOrd="0"/>
        <dgm:cxn modelId="51" srcId="2" destId="21" srcOrd="0"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clrData>
  <dgm:layoutNode name="Name0">
    <dgm:varLst>
      <dgm:dir/>
      <dgm:animOne val="branch"/>
      <dgm:animLvl val="lvl"/>
    </dgm:varLst>
    <dgm:choose name="Name1">
      <dgm:if name="Name2" func="var" arg="dir" op="equ" val="norm">
        <dgm:alg type="lin">
          <dgm:param type="fallback" val="2D"/>
          <dgm:param type="nodeVertAlign" val="t"/>
        </dgm:alg>
      </dgm:if>
      <dgm:else name="Name3">
        <dgm:alg type="lin">
          <dgm:param type="fallback" val="2D"/>
          <dgm:param type="nodeVertAlign" val="t"/>
          <dgm:param type="linDir" val="fromR"/>
        </dgm:alg>
      </dgm:else>
    </dgm:choose>
    <dgm:shape xmlns:r="http://schemas.openxmlformats.org/officeDocument/2006/relationships" r:blip="">
      <dgm:adjLst/>
    </dgm:shape>
    <dgm:constrLst>
      <dgm:constr type="userH" refType="h" fact="2"/>
      <dgm:constr type="w" for="ch" forName="chaos" refType="userH" fact="0.681"/>
      <dgm:constr type="h" for="ch" forName="chaos" refType="userH"/>
      <dgm:constr type="w" for="ch" forName="middle" refType="userH" fact="0.6"/>
      <dgm:constr type="h" for="ch" forName="middle" refType="userH"/>
      <dgm:constr type="w" for="ch" forName="last" refType="userH" fact="0.6"/>
      <dgm:constr type="h" for="ch" forName="last" refType="userH"/>
      <dgm:constr type="w" for="ch" forName="chevronComposite1" refType="userH" fact="0.22"/>
      <dgm:constr type="h" for="ch" forName="chevronComposite1" refType="userH" fact="0.52"/>
      <dgm:constr type="w" for="ch" forName="chevronComposite2" refType="userH" fact="0.22"/>
      <dgm:constr type="h" for="ch" forName="chevronComposite2" refType="userH" fact="0.52"/>
      <dgm:constr type="w" for="ch" forName="overlap" refType="userH" fact="-0.04"/>
      <dgm:constr type="h" for="ch" forName="overlap" refType="userH" fact="0.06"/>
      <dgm:constr type="primFontSz" for="des" forName="parTx1" op="equ" val="65"/>
      <dgm:constr type="primFontSz" for="des" forName="parTxMid" refType="primFontSz" refFor="des" refForName="parTx1" op="equ"/>
      <dgm:constr type="primFontSz" for="des" forName="circleTx" refType="primFontSz" refFor="des" refForName="parTx1" op="equ"/>
      <dgm:constr type="primFontSz" for="des" forName="desTx1" op="equ" val="65"/>
      <dgm:constr type="primFontSz" for="des" forName="desTxMid" refType="primFontSz" refFor="des" refForName="desTx1" op="equ"/>
      <dgm:constr type="primFontSz" for="des" forName="desTxN" refType="primFontSz" refFor="des" refForName="desTx1" op="equ"/>
    </dgm:constrLst>
    <dgm:forEach name="Name4" axis="ch" ptType="node">
      <dgm:choose name="Name5">
        <dgm:if name="Name6" axis="self" ptType="node" func="pos" op="equ" val="1">
          <dgm:layoutNode name="chaos">
            <dgm:alg type="composite"/>
            <dgm:shape xmlns:r="http://schemas.openxmlformats.org/officeDocument/2006/relationships" r:blip="">
              <dgm:adjLst/>
            </dgm:shape>
            <dgm:presOf/>
            <dgm:constrLst>
              <dgm:constr type="ctrX" for="ch" forName="parTx1" refType="w" fact="0.5"/>
              <dgm:constr type="t" for="ch" forName="parTx1" refType="w" fact="0.32"/>
              <dgm:constr type="w" for="ch" forName="parTx1" refType="w" fact="0.88"/>
              <dgm:constr type="h" for="ch" forName="parTx1" refType="w" fact="0.29"/>
              <dgm:constr type="ctrX" for="ch" forName="desTx1" refType="w" fact="0.5"/>
              <dgm:constr type="b" for="ch" forName="desTx1" refType="h"/>
              <dgm:constr type="w" for="ch" forName="desTx1" refType="w" fact="0.88"/>
              <dgm:constr type="h" for="ch" forName="desTx1" refType="h" fact="0.37"/>
              <dgm:constr type="l" for="ch" forName="c1" refType="w" fact="0.05"/>
              <dgm:constr type="t" for="ch" forName="c1" refType="w" fact="0.23"/>
              <dgm:constr type="w" for="ch" forName="c1" refType="w" fact="0.07"/>
              <dgm:constr type="h" for="ch" forName="c1" refType="w" refFor="ch" refForName="c1"/>
              <dgm:constr type="l" for="ch" forName="c2" refType="w" fact="0.1"/>
              <dgm:constr type="t" for="ch" forName="c2" refType="w" fact="0.13"/>
              <dgm:constr type="w" for="ch" forName="c2" refType="w" fact="0.07"/>
              <dgm:constr type="h" for="ch" forName="c2" refType="w" refFor="ch" refForName="c2"/>
              <dgm:constr type="l" for="ch" forName="c3" refType="w" fact="0.22"/>
              <dgm:constr type="t" for="ch" forName="c3" refType="w" fact="0.15"/>
              <dgm:constr type="w" for="ch" forName="c3" refType="w" fact="0.11"/>
              <dgm:constr type="h" for="ch" forName="c3" refType="w" refFor="ch" refForName="c3"/>
              <dgm:constr type="l" for="ch" forName="c4" refType="w" fact="0.32"/>
              <dgm:constr type="t" for="ch" forName="c4" refType="w" fact="0.04"/>
              <dgm:constr type="w" for="ch" forName="c4" refType="w" fact="0.07"/>
              <dgm:constr type="h" for="ch" forName="c4" refType="w" refFor="ch" refForName="c4"/>
              <dgm:constr type="l" for="ch" forName="c5" refType="w" fact="0.45"/>
              <dgm:constr type="t" for="ch" forName="c5" refType="w" fact="0"/>
              <dgm:constr type="w" for="ch" forName="c5" refType="w" fact="0.07"/>
              <dgm:constr type="h" for="ch" forName="c5" refType="w" refFor="ch" refForName="c5"/>
              <dgm:constr type="l" for="ch" forName="c6" refType="w" fact="0.61"/>
              <dgm:constr type="t" for="ch" forName="c6" refType="w" fact="0.07"/>
              <dgm:constr type="w" for="ch" forName="c6" refType="w" fact="0.07"/>
              <dgm:constr type="h" for="ch" forName="c6" refType="w" refFor="ch" refForName="c6"/>
              <dgm:constr type="l" for="ch" forName="c7" refType="w" fact="0.71"/>
              <dgm:constr type="t" for="ch" forName="c7" refType="w" fact="0.12"/>
              <dgm:constr type="w" for="ch" forName="c7" refType="w" fact="0.11"/>
              <dgm:constr type="h" for="ch" forName="c7" refType="w" refFor="ch" refForName="c7"/>
              <dgm:constr type="l" for="ch" forName="c8" refType="w" fact="0.85"/>
              <dgm:constr type="t" for="ch" forName="c8" refType="w" fact="0.23"/>
              <dgm:constr type="w" for="ch" forName="c8" refType="w" fact="0.07"/>
              <dgm:constr type="h" for="ch" forName="c8" refType="w" refFor="ch" refForName="c8"/>
              <dgm:constr type="l" for="ch" forName="c9" refType="w" fact="0.91"/>
              <dgm:constr type="t" for="ch" forName="c9" refType="w" fact="0.34"/>
              <dgm:constr type="w" for="ch" forName="c9" refType="w" fact="0.07"/>
              <dgm:constr type="h" for="ch" forName="c9" refType="w" refFor="ch" refForName="c9"/>
              <dgm:constr type="l" for="ch" forName="c10" refType="w" fact="0.39"/>
              <dgm:constr type="t" for="ch" forName="c10" refType="w" fact="0.13"/>
              <dgm:constr type="w" for="ch" forName="c10" refType="w" fact="0.18"/>
              <dgm:constr type="h" for="ch" forName="c10" refType="w" refFor="ch" refForName="c10"/>
              <dgm:constr type="l" for="ch" forName="c11" refType="w" fact="0"/>
              <dgm:constr type="t" for="ch" forName="c11" refType="w" fact="0.51"/>
              <dgm:constr type="w" for="ch" forName="c11" refType="w" fact="0.07"/>
              <dgm:constr type="h" for="ch" forName="c11" refType="w" refFor="ch" refForName="c11"/>
              <dgm:constr type="l" for="ch" forName="c12" refType="w" fact="0.06"/>
              <dgm:constr type="t" for="ch" forName="c12" refType="w" fact="0.6"/>
              <dgm:constr type="w" for="ch" forName="c12" refType="w" fact="0.11"/>
              <dgm:constr type="h" for="ch" forName="c12" refType="w" refFor="ch" refForName="c12"/>
              <dgm:constr type="l" for="ch" forName="c13" refType="w" fact="0.21"/>
              <dgm:constr type="t" for="ch" forName="c13" refType="w" fact="0.68"/>
              <dgm:constr type="w" for="ch" forName="c13" refType="w" fact="0.16"/>
              <dgm:constr type="h" for="ch" forName="c13" refType="w" refFor="ch" refForName="c13"/>
              <dgm:constr type="l" for="ch" forName="c14" refType="w" fact="0.42"/>
              <dgm:constr type="t" for="ch" forName="c14" refType="w" fact="0.81"/>
              <dgm:constr type="w" for="ch" forName="c14" refType="w" fact="0.07"/>
              <dgm:constr type="h" for="ch" forName="c14" refType="w" refFor="ch" refForName="c14"/>
              <dgm:constr type="l" for="ch" forName="c15" refType="w" fact="0.46"/>
              <dgm:constr type="t" for="ch" forName="c15" refType="w" fact="0.68"/>
              <dgm:constr type="w" for="ch" forName="c15" refType="w" fact="0.11"/>
              <dgm:constr type="h" for="ch" forName="c15" refType="w" refFor="ch" refForName="c15"/>
              <dgm:constr type="l" for="ch" forName="c16" refType="w" fact="0.56"/>
              <dgm:constr type="t" for="ch" forName="c16" refType="w" fact="0.82"/>
              <dgm:constr type="w" for="ch" forName="c16" refType="w" fact="0.07"/>
              <dgm:constr type="h" for="ch" forName="c16" refType="w" refFor="ch" refForName="c16"/>
              <dgm:constr type="l" for="ch" forName="c17" refType="w" fact="0.65"/>
              <dgm:constr type="t" for="ch" forName="c17" refType="w" fact="0.66"/>
              <dgm:constr type="w" for="ch" forName="c17" refType="w" fact="0.16"/>
              <dgm:constr type="h" for="ch" forName="c17" refType="w" refFor="ch" refForName="c17"/>
              <dgm:constr type="l" for="ch" forName="c18" refType="w" fact="0.87"/>
              <dgm:constr type="t" for="ch" forName="c18" refType="w" fact="0.62"/>
              <dgm:constr type="w" for="ch" forName="c18" refType="w" fact="0.11"/>
              <dgm:constr type="h" for="ch" forName="c18" refType="w" refFor="ch" refForName="c18"/>
            </dgm:constrLst>
            <dgm:layoutNode name="parTx1" styleLbl="revTx">
              <dgm:alg type="tx"/>
              <dgm:shape xmlns:r="http://schemas.openxmlformats.org/officeDocument/2006/relationships" type="rect"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7">
              <dgm:if name="Name8" axis="ch" ptType="node" func="cnt" op="gte" val="1">
                <dgm:layoutNode name="desTx1" styleLbl="revTx">
                  <dgm:varLst>
                    <dgm:bulletEnabled val="1"/>
                  </dgm:varLst>
                  <dgm:choose name="Name9">
                    <dgm:if name="Name10" axis="ch" ptType="node" func="cnt" op="equ" val="1">
                      <dgm:alg type="tx">
                        <dgm:param type="shpTxLTRAlignCh" val="l"/>
                      </dgm:alg>
                    </dgm:if>
                    <dgm:else name="Name11">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12"/>
            </dgm:choose>
            <dgm:layoutNode name="c1" styleLbl="node1">
              <dgm:alg type="sp"/>
              <dgm:shape xmlns:r="http://schemas.openxmlformats.org/officeDocument/2006/relationships" type="ellipse" r:blip="">
                <dgm:adjLst/>
              </dgm:shape>
              <dgm:presOf/>
            </dgm:layoutNode>
            <dgm:layoutNode name="c2" styleLbl="node1">
              <dgm:alg type="sp"/>
              <dgm:shape xmlns:r="http://schemas.openxmlformats.org/officeDocument/2006/relationships" type="ellipse" r:blip="">
                <dgm:adjLst/>
              </dgm:shape>
              <dgm:presOf/>
            </dgm:layoutNode>
            <dgm:layoutNode name="c3" styleLbl="node1">
              <dgm:alg type="sp"/>
              <dgm:shape xmlns:r="http://schemas.openxmlformats.org/officeDocument/2006/relationships" type="ellipse" r:blip="">
                <dgm:adjLst/>
              </dgm:shape>
              <dgm:presOf/>
            </dgm:layoutNode>
            <dgm:layoutNode name="c4" styleLbl="node1">
              <dgm:alg type="sp"/>
              <dgm:shape xmlns:r="http://schemas.openxmlformats.org/officeDocument/2006/relationships" type="ellipse" r:blip="">
                <dgm:adjLst/>
              </dgm:shape>
              <dgm:presOf/>
            </dgm:layoutNode>
            <dgm:layoutNode name="c5" styleLbl="node1">
              <dgm:alg type="sp"/>
              <dgm:shape xmlns:r="http://schemas.openxmlformats.org/officeDocument/2006/relationships" type="ellipse" r:blip="">
                <dgm:adjLst/>
              </dgm:shape>
              <dgm:presOf/>
            </dgm:layoutNode>
            <dgm:layoutNode name="c6" styleLbl="node1">
              <dgm:alg type="sp"/>
              <dgm:shape xmlns:r="http://schemas.openxmlformats.org/officeDocument/2006/relationships" type="ellipse" r:blip="">
                <dgm:adjLst/>
              </dgm:shape>
              <dgm:presOf/>
            </dgm:layoutNode>
            <dgm:layoutNode name="c7" styleLbl="node1">
              <dgm:alg type="sp"/>
              <dgm:shape xmlns:r="http://schemas.openxmlformats.org/officeDocument/2006/relationships" type="ellipse" r:blip="">
                <dgm:adjLst/>
              </dgm:shape>
              <dgm:presOf/>
            </dgm:layoutNode>
            <dgm:layoutNode name="c8" styleLbl="node1">
              <dgm:alg type="sp"/>
              <dgm:shape xmlns:r="http://schemas.openxmlformats.org/officeDocument/2006/relationships" type="ellipse" r:blip="">
                <dgm:adjLst/>
              </dgm:shape>
              <dgm:presOf/>
            </dgm:layoutNode>
            <dgm:layoutNode name="c9" styleLbl="node1">
              <dgm:alg type="sp"/>
              <dgm:shape xmlns:r="http://schemas.openxmlformats.org/officeDocument/2006/relationships" type="ellipse" r:blip="">
                <dgm:adjLst/>
              </dgm:shape>
              <dgm:presOf/>
            </dgm:layoutNode>
            <dgm:layoutNode name="c10" styleLbl="node1">
              <dgm:alg type="sp"/>
              <dgm:shape xmlns:r="http://schemas.openxmlformats.org/officeDocument/2006/relationships" type="ellipse" r:blip="">
                <dgm:adjLst/>
              </dgm:shape>
              <dgm:presOf/>
            </dgm:layoutNode>
            <dgm:layoutNode name="c11" styleLbl="node1">
              <dgm:alg type="sp"/>
              <dgm:shape xmlns:r="http://schemas.openxmlformats.org/officeDocument/2006/relationships" type="ellipse" r:blip="">
                <dgm:adjLst/>
              </dgm:shape>
              <dgm:presOf/>
            </dgm:layoutNode>
            <dgm:layoutNode name="c12" styleLbl="node1">
              <dgm:alg type="sp"/>
              <dgm:shape xmlns:r="http://schemas.openxmlformats.org/officeDocument/2006/relationships" type="ellipse" r:blip="">
                <dgm:adjLst/>
              </dgm:shape>
              <dgm:presOf/>
            </dgm:layoutNode>
            <dgm:layoutNode name="c13" styleLbl="node1">
              <dgm:alg type="sp"/>
              <dgm:shape xmlns:r="http://schemas.openxmlformats.org/officeDocument/2006/relationships" type="ellipse" r:blip="">
                <dgm:adjLst/>
              </dgm:shape>
              <dgm:presOf/>
            </dgm:layoutNode>
            <dgm:layoutNode name="c14" styleLbl="node1">
              <dgm:alg type="sp"/>
              <dgm:shape xmlns:r="http://schemas.openxmlformats.org/officeDocument/2006/relationships" type="ellipse" r:blip="">
                <dgm:adjLst/>
              </dgm:shape>
              <dgm:presOf/>
            </dgm:layoutNode>
            <dgm:layoutNode name="c15" styleLbl="node1">
              <dgm:alg type="sp"/>
              <dgm:shape xmlns:r="http://schemas.openxmlformats.org/officeDocument/2006/relationships" type="ellipse" r:blip="">
                <dgm:adjLst/>
              </dgm:shape>
              <dgm:presOf/>
            </dgm:layoutNode>
            <dgm:layoutNode name="c16" styleLbl="node1">
              <dgm:alg type="sp"/>
              <dgm:shape xmlns:r="http://schemas.openxmlformats.org/officeDocument/2006/relationships" type="ellipse" r:blip="">
                <dgm:adjLst/>
              </dgm:shape>
              <dgm:presOf/>
            </dgm:layoutNode>
            <dgm:layoutNode name="c17" styleLbl="node1">
              <dgm:alg type="sp"/>
              <dgm:shape xmlns:r="http://schemas.openxmlformats.org/officeDocument/2006/relationships" type="ellipse" r:blip="">
                <dgm:adjLst/>
              </dgm:shape>
              <dgm:presOf/>
            </dgm:layoutNode>
            <dgm:layoutNode name="c18" styleLbl="node1">
              <dgm:alg type="sp"/>
              <dgm:shape xmlns:r="http://schemas.openxmlformats.org/officeDocument/2006/relationships" type="ellipse" r:blip="">
                <dgm:adjLst/>
              </dgm:shape>
              <dgm:presOf/>
            </dgm:layoutNode>
          </dgm:layoutNode>
        </dgm:if>
        <dgm:if name="Name13" axis="self" ptType="node" func="revPos" op="equ" val="1">
          <dgm:layoutNode name="last">
            <dgm:alg type="composite"/>
            <dgm:shape xmlns:r="http://schemas.openxmlformats.org/officeDocument/2006/relationships" r:blip="">
              <dgm:adjLst/>
            </dgm:shape>
            <dgm:presOf/>
            <dgm:constrLst>
              <dgm:constr type="ctrX" for="ch" forName="circleTx" refType="w" fact="0.5"/>
              <dgm:constr type="t" for="ch" forName="circleTx" refType="w" fact="0.117"/>
              <dgm:constr type="w" for="ch" forName="circleTx" refType="h" refFor="ch" refForName="circleTx"/>
              <dgm:constr type="h" for="ch" forName="circleTx" refType="w" fact="0.85"/>
              <dgm:constr type="l" for="ch" forName="desTxN"/>
              <dgm:constr type="b" for="ch" forName="desTxN" refType="h"/>
              <dgm:constr type="w" for="ch" forName="desTxN" refType="w"/>
              <dgm:constr type="h" for="ch" forName="desTxN" refType="h" fact="0.37"/>
              <dgm:constr type="ctrX" for="ch" forName="spN" refType="w" fact="0.5"/>
              <dgm:constr type="t" for="ch" forName="spN"/>
              <dgm:constr type="w" for="ch" forName="spN" refType="w" fact="0.93"/>
              <dgm:constr type="h" for="ch" forName="spN" refType="h" fact="0.01"/>
            </dgm:constrLst>
            <dgm:layoutNode name="circleTx" styleLbl="node1">
              <dgm:alg type="tx"/>
              <dgm:shape xmlns:r="http://schemas.openxmlformats.org/officeDocument/2006/relationships" type="ellipse" r:blip="">
                <dgm:adjLst/>
              </dgm:shape>
              <dgm:presOf axis="self" ptType="node"/>
              <dgm:constrLst>
                <dgm:constr type="lMarg"/>
                <dgm:constr type="rMarg"/>
                <dgm:constr type="tMarg"/>
                <dgm:constr type="bMarg"/>
              </dgm:constrLst>
              <dgm:ruleLst>
                <dgm:rule type="primFontSz" val="5" fact="NaN" max="NaN"/>
              </dgm:ruleLst>
            </dgm:layoutNode>
            <dgm:choose name="Name14">
              <dgm:if name="Name15" axis="ch" ptType="node" func="cnt" op="gte" val="1">
                <dgm:layoutNode name="desTxN" styleLbl="revTx">
                  <dgm:varLst>
                    <dgm:bulletEnabled val="1"/>
                  </dgm:varLst>
                  <dgm:choose name="Name16">
                    <dgm:if name="Name17" axis="ch" ptType="node" func="cnt" op="equ" val="1">
                      <dgm:alg type="tx">
                        <dgm:param type="shpTxLTRAlignCh" val="l"/>
                      </dgm:alg>
                    </dgm:if>
                    <dgm:else name="Name18">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19"/>
            </dgm:choose>
            <dgm:layoutNode name="spN">
              <dgm:alg type="sp"/>
              <dgm:shape xmlns:r="http://schemas.openxmlformats.org/officeDocument/2006/relationships" r:blip="">
                <dgm:adjLst/>
              </dgm:shape>
              <dgm:presOf/>
            </dgm:layoutNode>
          </dgm:layoutNode>
        </dgm:if>
        <dgm:else name="Name20">
          <dgm:layoutNode name="middle">
            <dgm:alg type="composite"/>
            <dgm:shape xmlns:r="http://schemas.openxmlformats.org/officeDocument/2006/relationships" r:blip="">
              <dgm:adjLst/>
            </dgm:shape>
            <dgm:presOf/>
            <dgm:constrLst>
              <dgm:constr type="l" for="ch" forName="parTxMid"/>
              <dgm:constr type="t" for="ch" forName="parTxMid" refType="w" fact="0.167"/>
              <dgm:constr type="w" for="ch" forName="parTxMid" refType="w"/>
              <dgm:constr type="h" for="ch" forName="parTxMid" refType="w" fact="0.7"/>
              <dgm:constr type="l" for="ch" forName="desTxMid"/>
              <dgm:constr type="b" for="ch" forName="desTxMid" refType="h"/>
              <dgm:constr type="w" for="ch" forName="desTxMid" refType="w"/>
              <dgm:constr type="h" for="ch" forName="desTxMid" refType="h" fact="0.37"/>
              <dgm:constr type="ctrX" for="ch" forName="spMid" refType="w" fact="0.5"/>
              <dgm:constr type="t" for="ch" forName="spMid"/>
              <dgm:constr type="w" for="ch" forName="spMid" refType="w" fact="0.01"/>
              <dgm:constr type="h" for="ch" forName="spMid" refType="h" fact="0.01"/>
            </dgm:constrLst>
            <dgm:layoutNode name="parTxMid" styleLbl="revTx">
              <dgm:alg type="tx"/>
              <dgm:shape xmlns:r="http://schemas.openxmlformats.org/officeDocument/2006/relationships" type="rect"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21">
              <dgm:if name="Name22" axis="ch" ptType="node" func="cnt" op="gte" val="1">
                <dgm:layoutNode name="desTxMid" styleLbl="revTx">
                  <dgm:varLst>
                    <dgm:bulletEnabled val="1"/>
                  </dgm:varLst>
                  <dgm:choose name="Name23">
                    <dgm:if name="Name24" axis="ch" ptType="node" func="cnt" op="equ" val="1">
                      <dgm:alg type="tx">
                        <dgm:param type="shpTxLTRAlignCh" val="l"/>
                      </dgm:alg>
                    </dgm:if>
                    <dgm:else name="Name25">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26"/>
            </dgm:choose>
            <dgm:layoutNode name="spMid">
              <dgm:alg type="sp"/>
              <dgm:shape xmlns:r="http://schemas.openxmlformats.org/officeDocument/2006/relationships" r:blip="">
                <dgm:adjLst/>
              </dgm:shape>
              <dgm:presOf/>
            </dgm:layoutNode>
          </dgm:layoutNode>
        </dgm:else>
      </dgm:choose>
      <dgm:forEach name="Name27" axis="followSib" ptType="sibTrans" cnt="1">
        <dgm:layoutNode name="chevronComposite1" styleLbl="alignImgPlace1">
          <dgm:alg type="composite"/>
          <dgm:shape xmlns:r="http://schemas.openxmlformats.org/officeDocument/2006/relationships" r:blip="">
            <dgm:adjLst/>
          </dgm:shape>
          <dgm:presOf/>
          <dgm:constrLst>
            <dgm:constr type="l" for="ch" forName="chevron1"/>
            <dgm:constr type="t" for="ch" forName="chevron1" refType="h" fact="0.1923"/>
            <dgm:constr type="w" for="ch" forName="chevron1" refType="w"/>
            <dgm:constr type="b" for="ch" forName="chevron1" refType="h"/>
            <dgm:constr type="l" for="ch" forName="spChevron1"/>
            <dgm:constr type="t" for="ch" forName="spChevron1"/>
            <dgm:constr type="w" for="ch" forName="spChevron1" refType="w" fact="0.01"/>
            <dgm:constr type="h" for="ch" forName="spChevron1" refType="h" fact="0.01"/>
          </dgm:constrLst>
          <dgm:layoutNode name="chevron1">
            <dgm:alg type="sp"/>
            <dgm:choose name="Name28">
              <dgm:if name="Name29" func="var" arg="dir" op="equ" val="norm">
                <dgm:shape xmlns:r="http://schemas.openxmlformats.org/officeDocument/2006/relationships" type="chevron" r:blip="">
                  <dgm:adjLst>
                    <dgm:adj idx="1" val="0.6231"/>
                  </dgm:adjLst>
                </dgm:shape>
              </dgm:if>
              <dgm:else name="Name30">
                <dgm:shape xmlns:r="http://schemas.openxmlformats.org/officeDocument/2006/relationships" rot="180" type="chevron" r:blip="">
                  <dgm:adjLst>
                    <dgm:adj idx="1" val="0.6231"/>
                  </dgm:adjLst>
                </dgm:shape>
              </dgm:else>
            </dgm:choose>
            <dgm:presOf/>
          </dgm:layoutNode>
          <dgm:layoutNode name="spChevron1">
            <dgm:alg type="sp"/>
            <dgm:shape xmlns:r="http://schemas.openxmlformats.org/officeDocument/2006/relationships" r:blip="">
              <dgm:adjLst/>
            </dgm:shape>
            <dgm:presOf/>
          </dgm:layoutNode>
        </dgm:layoutNode>
        <dgm:choose name="Name31">
          <dgm:if name="Name32" axis="root ch" ptType="all node" func="cnt" op="equ" val="2">
            <dgm:layoutNode name="overlap">
              <dgm:alg type="sp"/>
              <dgm:shape xmlns:r="http://schemas.openxmlformats.org/officeDocument/2006/relationships" r:blip="">
                <dgm:adjLst/>
              </dgm:shape>
              <dgm:presOf/>
            </dgm:layoutNode>
            <dgm:layoutNode name="chevronComposite2" styleLbl="alignImgPlace1">
              <dgm:alg type="composite"/>
              <dgm:shape xmlns:r="http://schemas.openxmlformats.org/officeDocument/2006/relationships" r:blip="">
                <dgm:adjLst/>
              </dgm:shape>
              <dgm:presOf/>
              <dgm:constrLst>
                <dgm:constr type="l" for="ch" forName="chevron2"/>
                <dgm:constr type="t" for="ch" forName="chevron2" refType="h" fact="0.1923"/>
                <dgm:constr type="w" for="ch" forName="chevron2" refType="w"/>
                <dgm:constr type="b" for="ch" forName="chevron2" refType="h"/>
                <dgm:constr type="l" for="ch" forName="spChevron2"/>
                <dgm:constr type="t" for="ch" forName="spChevron2"/>
                <dgm:constr type="w" for="ch" forName="spChevron2" refType="w" fact="0.01"/>
                <dgm:constr type="h" for="ch" forName="spChevron2" refType="h" fact="0.01"/>
              </dgm:constrLst>
              <dgm:layoutNode name="chevron2">
                <dgm:alg type="sp"/>
                <dgm:choose name="Name33">
                  <dgm:if name="Name34" func="var" arg="dir" op="equ" val="norm">
                    <dgm:shape xmlns:r="http://schemas.openxmlformats.org/officeDocument/2006/relationships" type="chevron" r:blip="">
                      <dgm:adjLst>
                        <dgm:adj idx="1" val="0.6231"/>
                      </dgm:adjLst>
                    </dgm:shape>
                  </dgm:if>
                  <dgm:else name="Name35">
                    <dgm:shape xmlns:r="http://schemas.openxmlformats.org/officeDocument/2006/relationships" rot="180" type="chevron" r:blip="">
                      <dgm:adjLst>
                        <dgm:adj idx="1" val="0.6231"/>
                      </dgm:adjLst>
                    </dgm:shape>
                  </dgm:else>
                </dgm:choose>
                <dgm:presOf/>
              </dgm:layoutNode>
              <dgm:layoutNode name="spChevron2">
                <dgm:alg type="sp"/>
                <dgm:shape xmlns:r="http://schemas.openxmlformats.org/officeDocument/2006/relationships" r:blip="">
                  <dgm:adjLst/>
                </dgm:shape>
                <dgm:presOf/>
              </dgm:layoutNode>
            </dgm:layoutNode>
          </dgm:if>
          <dgm:else name="Name36"/>
        </dgm:choos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7.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dca87fd58d_0_4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dca87fd58d_0_4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dca87fd58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dca87fd58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3dca87fd58d_0_4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3dca87fd58d_0_4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dca87fd58d_0_5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dca87fd58d_0_5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3dca87fd58d_0_5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3dca87fd58d_0_5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dca87fd58d_0_5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dca87fd58d_0_5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2DCC5850-41FC-3104-0FB8-92A507E0B26B}"/>
            </a:ext>
          </a:extLst>
        </p:cNvPr>
        <p:cNvGrpSpPr/>
        <p:nvPr/>
      </p:nvGrpSpPr>
      <p:grpSpPr>
        <a:xfrm>
          <a:off x="0" y="0"/>
          <a:ext cx="0" cy="0"/>
          <a:chOff x="0" y="0"/>
          <a:chExt cx="0" cy="0"/>
        </a:xfrm>
      </p:grpSpPr>
      <p:sp>
        <p:nvSpPr>
          <p:cNvPr id="112" name="Google Shape;112;g3dca87fd58d_0_583:notes">
            <a:extLst>
              <a:ext uri="{FF2B5EF4-FFF2-40B4-BE49-F238E27FC236}">
                <a16:creationId xmlns:a16="http://schemas.microsoft.com/office/drawing/2014/main" id="{10F564FA-A029-E905-080E-E3EFF53D4A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3dca87fd58d_0_583:notes">
            <a:extLst>
              <a:ext uri="{FF2B5EF4-FFF2-40B4-BE49-F238E27FC236}">
                <a16:creationId xmlns:a16="http://schemas.microsoft.com/office/drawing/2014/main" id="{F0B3CB25-393F-1840-0094-84672487A04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989265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dca87fd58d_0_5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dca87fd58d_0_5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dca87fd58d_0_6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dca87fd58d_0_6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dca87fd58d_0_6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3dca87fd58d_0_6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3dca87fd58d_0_6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3dca87fd58d_0_6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dca87fd58d_0_6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3dca87fd58d_0_6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6350"/>
            <a:ext cx="9144000" cy="5149850"/>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300" y="1803400"/>
            <a:ext cx="5825202" cy="1234727"/>
          </a:xfrm>
        </p:spPr>
        <p:txBody>
          <a:bodyPr anchor="b">
            <a:noAutofit/>
          </a:bodyPr>
          <a:lstStyle>
            <a:lvl1pPr algn="r">
              <a:defRPr sz="405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300" y="3038125"/>
            <a:ext cx="5825202" cy="822674"/>
          </a:xfrm>
        </p:spPr>
        <p:txBody>
          <a:bodyPr anchor="t"/>
          <a:lstStyle>
            <a:lvl1pPr marL="0" indent="0" algn="r">
              <a:buNone/>
              <a:defRPr>
                <a:solidFill>
                  <a:schemeClr val="tx1">
                    <a:lumMod val="50000"/>
                    <a:lumOff val="5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4/10/2026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391598879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4/10/2026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225137635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08001" y="2025651"/>
            <a:ext cx="6447501" cy="1369936"/>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95586"/>
            <a:ext cx="6447501" cy="645300"/>
          </a:xfrm>
        </p:spPr>
        <p:txBody>
          <a:bodyPr anchor="t"/>
          <a:lstStyle>
            <a:lvl1pPr marL="0" indent="0" algn="l">
              <a:buNone/>
              <a:defRPr sz="150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4/10/2026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2325643394"/>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08001" y="1620442"/>
            <a:ext cx="3138026" cy="2910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17477" y="1620442"/>
            <a:ext cx="3138026" cy="2910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pPr/>
              <a:t>4/10/2026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330640145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506809" y="1620737"/>
            <a:ext cx="3139217"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506809" y="2052934"/>
            <a:ext cx="3139217" cy="24780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16287" y="1620737"/>
            <a:ext cx="3139214"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816288" y="2052934"/>
            <a:ext cx="3139213" cy="24780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pPr/>
              <a:t>4/10/2026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406105743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9906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4/10/2026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176974865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4/10/2026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8167378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1123953"/>
            <a:ext cx="2890896" cy="958850"/>
          </a:xfrm>
        </p:spPr>
        <p:txBody>
          <a:bodyPr anchor="b">
            <a:normAutofit/>
          </a:bodyPr>
          <a:lstStyle>
            <a:lvl1pPr>
              <a:defRPr sz="1500"/>
            </a:lvl1pPr>
          </a:lstStyle>
          <a:p>
            <a:r>
              <a:rPr lang="en-US"/>
              <a:t>Click to edit Master title style</a:t>
            </a:r>
            <a:endParaRPr lang="en-US" dirty="0"/>
          </a:p>
        </p:txBody>
      </p:sp>
      <p:sp>
        <p:nvSpPr>
          <p:cNvPr id="3" name="Content Placeholder 2"/>
          <p:cNvSpPr>
            <a:spLocks noGrp="1"/>
          </p:cNvSpPr>
          <p:nvPr>
            <p:ph idx="1"/>
          </p:nvPr>
        </p:nvSpPr>
        <p:spPr>
          <a:xfrm>
            <a:off x="3570346" y="386193"/>
            <a:ext cx="3385156" cy="41448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08001" y="2082802"/>
            <a:ext cx="2890896" cy="1938337"/>
          </a:xfrm>
        </p:spPr>
        <p:txBody>
          <a:bodyPr>
            <a:normAutofit/>
          </a:bodyPr>
          <a:lstStyle>
            <a:lvl1pPr marL="0" indent="0">
              <a:buNone/>
              <a:defRPr sz="1050"/>
            </a:lvl1pPr>
            <a:lvl2pPr marL="342797" indent="0">
              <a:buNone/>
              <a:defRPr sz="1050"/>
            </a:lvl2pPr>
            <a:lvl3pPr marL="685595" indent="0">
              <a:buNone/>
              <a:defRPr sz="900"/>
            </a:lvl3pPr>
            <a:lvl4pPr marL="1028392" indent="0">
              <a:buNone/>
              <a:defRPr sz="750"/>
            </a:lvl4pPr>
            <a:lvl5pPr marL="1371188" indent="0">
              <a:buNone/>
              <a:defRPr sz="750"/>
            </a:lvl5pPr>
            <a:lvl6pPr marL="1713986" indent="0">
              <a:buNone/>
              <a:defRPr sz="750"/>
            </a:lvl6pPr>
            <a:lvl7pPr marL="2056783" indent="0">
              <a:buNone/>
              <a:defRPr sz="750"/>
            </a:lvl7pPr>
            <a:lvl8pPr marL="2399580" indent="0">
              <a:buNone/>
              <a:defRPr sz="750"/>
            </a:lvl8pPr>
            <a:lvl9pPr marL="2742377"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4/10/2026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1922182206"/>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3600450"/>
            <a:ext cx="6447500" cy="425054"/>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08001" y="457200"/>
            <a:ext cx="6447501" cy="2884289"/>
          </a:xfrm>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508001" y="4025504"/>
            <a:ext cx="6447500" cy="505518"/>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
        <p:nvSpPr>
          <p:cNvPr id="5" name="Date Placeholder 4"/>
          <p:cNvSpPr>
            <a:spLocks noGrp="1"/>
          </p:cNvSpPr>
          <p:nvPr>
            <p:ph type="dt" sz="half" idx="10"/>
          </p:nvPr>
        </p:nvSpPr>
        <p:spPr/>
        <p:txBody>
          <a:bodyPr/>
          <a:lstStyle/>
          <a:p>
            <a:fld id="{48A87A34-81AB-432B-8DAE-1953F412C126}" type="datetimeFigureOut">
              <a:rPr lang="en-US" smtClean="0"/>
              <a:t>4/10/2026</a:t>
            </a:fld>
            <a:endParaRPr lang="en-US" dirty="0"/>
          </a:p>
        </p:txBody>
      </p:sp>
    </p:spTree>
    <p:extLst>
      <p:ext uri="{BB962C8B-B14F-4D97-AF65-F5344CB8AC3E}">
        <p14:creationId xmlns:p14="http://schemas.microsoft.com/office/powerpoint/2010/main" val="340863100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2552700"/>
          </a:xfrm>
        </p:spPr>
        <p:txBody>
          <a:bodyPr anchor="ctr">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4/10/2026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313901175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024604" y="2724150"/>
            <a:ext cx="5418393" cy="285750"/>
          </a:xfrm>
        </p:spPr>
        <p:txBody>
          <a:bodyPr anchor="ctr">
            <a:noAutofit/>
          </a:bodyPr>
          <a:lstStyle>
            <a:lvl1pPr marL="0" indent="0">
              <a:buFontTx/>
              <a:buNone/>
              <a:defRPr sz="1200">
                <a:solidFill>
                  <a:schemeClr val="tx1">
                    <a:lumMod val="50000"/>
                    <a:lumOff val="50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4/10/2026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
        <p:nvSpPr>
          <p:cNvPr id="24" name="TextBox 23"/>
          <p:cNvSpPr txBox="1"/>
          <p:nvPr/>
        </p:nvSpPr>
        <p:spPr>
          <a:xfrm>
            <a:off x="406403" y="59278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669758" y="2164917"/>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70983001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08001" y="1448991"/>
            <a:ext cx="6447501" cy="1946595"/>
          </a:xfrm>
        </p:spPr>
        <p:txBody>
          <a:bodyPr anchor="b">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4/10/2026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3674602455"/>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1800">
                <a:solidFill>
                  <a:schemeClr val="tx1">
                    <a:lumMod val="75000"/>
                    <a:lumOff val="25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4/10/2026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
        <p:nvSpPr>
          <p:cNvPr id="24" name="TextBox 23"/>
          <p:cNvSpPr txBox="1"/>
          <p:nvPr/>
        </p:nvSpPr>
        <p:spPr>
          <a:xfrm>
            <a:off x="406403" y="59278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669758" y="2164917"/>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46983094"/>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14350" y="457200"/>
            <a:ext cx="6441152"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1800">
                <a:solidFill>
                  <a:schemeClr val="accent1"/>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4/10/2026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476325158"/>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4/10/2026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1632811410"/>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5755" y="457200"/>
            <a:ext cx="978557" cy="3938588"/>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508001" y="457200"/>
            <a:ext cx="5295113" cy="39385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4/10/2026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55905777"/>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extLst>
      <p:ext uri="{BB962C8B-B14F-4D97-AF65-F5344CB8AC3E}">
        <p14:creationId xmlns:p14="http://schemas.microsoft.com/office/powerpoint/2010/main" val="206759557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extLst>
      <p:ext uri="{BB962C8B-B14F-4D97-AF65-F5344CB8AC3E}">
        <p14:creationId xmlns:p14="http://schemas.microsoft.com/office/powerpoint/2010/main" val="12458570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6350"/>
            <a:ext cx="9144000" cy="5149850"/>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508001" y="457200"/>
            <a:ext cx="6447501" cy="9906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508001" y="1620442"/>
            <a:ext cx="6447501" cy="29105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3850" y="4531022"/>
            <a:ext cx="683954" cy="273844"/>
          </a:xfrm>
          <a:prstGeom prst="rect">
            <a:avLst/>
          </a:prstGeom>
        </p:spPr>
        <p:txBody>
          <a:bodyPr vert="horz" lIns="91440" tIns="45720" rIns="91440" bIns="45720" rtlCol="0" anchor="ctr"/>
          <a:lstStyle>
            <a:lvl1pPr algn="r">
              <a:defRPr sz="675">
                <a:solidFill>
                  <a:schemeClr val="tx1">
                    <a:tint val="75000"/>
                  </a:schemeClr>
                </a:solidFill>
              </a:defRPr>
            </a:lvl1pPr>
          </a:lstStyle>
          <a:p>
            <a:fld id="{48A87A34-81AB-432B-8DAE-1953F412C126}" type="datetimeFigureOut">
              <a:rPr lang="en-US" smtClean="0"/>
              <a:pPr/>
              <a:t>4/10/2026</a:t>
            </a:fld>
            <a:endParaRPr lang="en-US" dirty="0"/>
          </a:p>
        </p:txBody>
      </p:sp>
      <p:sp>
        <p:nvSpPr>
          <p:cNvPr id="5" name="Footer Placeholder 4"/>
          <p:cNvSpPr>
            <a:spLocks noGrp="1"/>
          </p:cNvSpPr>
          <p:nvPr>
            <p:ph type="ftr" sz="quarter" idx="3"/>
          </p:nvPr>
        </p:nvSpPr>
        <p:spPr>
          <a:xfrm>
            <a:off x="508001" y="4531022"/>
            <a:ext cx="4723209" cy="273844"/>
          </a:xfrm>
          <a:prstGeom prst="rect">
            <a:avLst/>
          </a:prstGeom>
        </p:spPr>
        <p:txBody>
          <a:bodyPr vert="horz" lIns="91440" tIns="45720" rIns="91440" bIns="45720" rtlCol="0" anchor="ctr"/>
          <a:lstStyle>
            <a:lvl1pPr algn="l">
              <a:defRPr sz="675">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42998" y="4531022"/>
            <a:ext cx="512504" cy="273844"/>
          </a:xfrm>
          <a:prstGeom prst="rect">
            <a:avLst/>
          </a:prstGeom>
        </p:spPr>
        <p:txBody>
          <a:bodyPr vert="horz" lIns="91440" tIns="45720" rIns="91440" bIns="45720" rtlCol="0" anchor="ctr"/>
          <a:lstStyle>
            <a:lvl1pPr algn="r">
              <a:defRPr sz="675">
                <a:solidFill>
                  <a:schemeClr val="accent1"/>
                </a:solidFill>
              </a:defRPr>
            </a:lvl1p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1236952438"/>
      </p:ext>
    </p:extLst>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 id="2147483840" r:id="rId12"/>
    <p:sldLayoutId id="2147483841" r:id="rId13"/>
    <p:sldLayoutId id="2147483842" r:id="rId14"/>
    <p:sldLayoutId id="2147483843" r:id="rId15"/>
    <p:sldLayoutId id="2147483844" r:id="rId16"/>
    <p:sldLayoutId id="2147483845" r:id="rId17"/>
    <p:sldLayoutId id="2147483846" r:id="rId18"/>
  </p:sldLayoutIdLst>
  <p:hf sldNum="0" hdr="0" ftr="0" dt="0"/>
  <p:txStyles>
    <p:titleStyle>
      <a:lvl1pPr algn="l" defTabSz="342900" rtl="0" eaLnBrk="1" latinLnBrk="0" hangingPunct="1">
        <a:spcBef>
          <a:spcPct val="0"/>
        </a:spcBef>
        <a:buNone/>
        <a:defRPr sz="27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accent1"/>
        </a:buClr>
        <a:buSzPct val="80000"/>
        <a:buFont typeface="Wingdings 3" charset="2"/>
        <a:buChar char=""/>
        <a:defRPr sz="135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05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1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1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8.xml"/><Relationship Id="rId1" Type="http://schemas.openxmlformats.org/officeDocument/2006/relationships/slideLayout" Target="../slideLayouts/slideLayout18.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 Id="rId9" Type="http://schemas.openxmlformats.org/officeDocument/2006/relationships/image" Target="../media/image8.png"/></Relationships>
</file>

<file path=ppt/slides/_rels/slide1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9.xml"/><Relationship Id="rId1" Type="http://schemas.openxmlformats.org/officeDocument/2006/relationships/slideLayout" Target="../slideLayouts/slideLayout18.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5.xml"/><Relationship Id="rId7" Type="http://schemas.openxmlformats.org/officeDocument/2006/relationships/image" Target="../media/image10.png"/><Relationship Id="rId2" Type="http://schemas.openxmlformats.org/officeDocument/2006/relationships/diagramData" Target="../diagrams/data5.xml"/><Relationship Id="rId1" Type="http://schemas.openxmlformats.org/officeDocument/2006/relationships/slideLayout" Target="../slideLayouts/slideLayout18.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0.xml"/><Relationship Id="rId1" Type="http://schemas.openxmlformats.org/officeDocument/2006/relationships/slideLayout" Target="../slideLayouts/slideLayout18.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 Id="rId9"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1.xml"/><Relationship Id="rId1" Type="http://schemas.openxmlformats.org/officeDocument/2006/relationships/slideLayout" Target="../slideLayouts/slideLayout18.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53"/>
        <p:cNvGrpSpPr/>
        <p:nvPr/>
      </p:nvGrpSpPr>
      <p:grpSpPr>
        <a:xfrm>
          <a:off x="0" y="0"/>
          <a:ext cx="0" cy="0"/>
          <a:chOff x="0" y="0"/>
          <a:chExt cx="0" cy="0"/>
        </a:xfrm>
      </p:grpSpPr>
      <p:grpSp>
        <p:nvGrpSpPr>
          <p:cNvPr id="90" name="Group 89">
            <a:extLst>
              <a:ext uri="{FF2B5EF4-FFF2-40B4-BE49-F238E27FC236}">
                <a16:creationId xmlns:a16="http://schemas.microsoft.com/office/drawing/2014/main" id="{4815A7B4-532E-48C9-AC24-D78ACF3339D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6350"/>
            <a:ext cx="9144000" cy="5149850"/>
            <a:chOff x="0" y="-8467"/>
            <a:chExt cx="12192000" cy="6866467"/>
          </a:xfrm>
        </p:grpSpPr>
        <p:sp>
          <p:nvSpPr>
            <p:cNvPr id="91" name="Freeform 14">
              <a:extLst>
                <a:ext uri="{FF2B5EF4-FFF2-40B4-BE49-F238E27FC236}">
                  <a16:creationId xmlns:a16="http://schemas.microsoft.com/office/drawing/2014/main" id="{D40109F4-CE5C-45F4-856E-F3F69C9FD4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cxnSp>
          <p:nvCxnSpPr>
            <p:cNvPr id="62" name="Straight Connector 61">
              <a:extLst>
                <a:ext uri="{FF2B5EF4-FFF2-40B4-BE49-F238E27FC236}">
                  <a16:creationId xmlns:a16="http://schemas.microsoft.com/office/drawing/2014/main" id="{3CBAA4DE-3D7B-460B-AE98-D9F9990C0B6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7BF1ED3E-4F80-4AF6-A41B-44F53DDE610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92" name="Rectangle 23">
              <a:extLst>
                <a:ext uri="{FF2B5EF4-FFF2-40B4-BE49-F238E27FC236}">
                  <a16:creationId xmlns:a16="http://schemas.microsoft.com/office/drawing/2014/main" id="{C0B2D747-3E31-45C5-9A98-A9710A585F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93" name="Rectangle 25">
              <a:extLst>
                <a:ext uri="{FF2B5EF4-FFF2-40B4-BE49-F238E27FC236}">
                  <a16:creationId xmlns:a16="http://schemas.microsoft.com/office/drawing/2014/main" id="{A15FD4BA-3020-462D-8BE8-B3A65B8E49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94" name="Isosceles Triangle 93">
              <a:extLst>
                <a:ext uri="{FF2B5EF4-FFF2-40B4-BE49-F238E27FC236}">
                  <a16:creationId xmlns:a16="http://schemas.microsoft.com/office/drawing/2014/main" id="{A304284A-7318-4DD5-898C-2F6B23C778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95" name="Rectangle 27">
              <a:extLst>
                <a:ext uri="{FF2B5EF4-FFF2-40B4-BE49-F238E27FC236}">
                  <a16:creationId xmlns:a16="http://schemas.microsoft.com/office/drawing/2014/main" id="{9DF48E66-B635-4509-B115-E0987C014E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96" name="Rectangle 28">
              <a:extLst>
                <a:ext uri="{FF2B5EF4-FFF2-40B4-BE49-F238E27FC236}">
                  <a16:creationId xmlns:a16="http://schemas.microsoft.com/office/drawing/2014/main" id="{E3B96D94-5F5A-4F4C-810C-917BF4D266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97" name="Rectangle 29">
              <a:extLst>
                <a:ext uri="{FF2B5EF4-FFF2-40B4-BE49-F238E27FC236}">
                  <a16:creationId xmlns:a16="http://schemas.microsoft.com/office/drawing/2014/main" id="{7F3782D6-BFF8-4389-9D39-A023ADAA92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98" name="Isosceles Triangle 97">
              <a:extLst>
                <a:ext uri="{FF2B5EF4-FFF2-40B4-BE49-F238E27FC236}">
                  <a16:creationId xmlns:a16="http://schemas.microsoft.com/office/drawing/2014/main" id="{ECE162D4-FCAE-441B-B5E9-C91DE62124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54" name="Google Shape;54;p13"/>
          <p:cNvSpPr txBox="1">
            <a:spLocks noGrp="1"/>
          </p:cNvSpPr>
          <p:nvPr>
            <p:ph type="ctrTitle" idx="4294967295"/>
          </p:nvPr>
        </p:nvSpPr>
        <p:spPr>
          <a:xfrm>
            <a:off x="4571141" y="945998"/>
            <a:ext cx="2623174" cy="2251996"/>
          </a:xfrm>
          <a:prstGeom prst="rect">
            <a:avLst/>
          </a:prstGeom>
        </p:spPr>
        <p:txBody>
          <a:bodyPr spcFirstLastPara="1" vert="horz" lIns="91440" tIns="45720" rIns="91440" bIns="45720" rtlCol="0" anchor="b" anchorCtr="0">
            <a:normAutofit/>
          </a:bodyPr>
          <a:lstStyle/>
          <a:p>
            <a:pPr marL="0" lvl="0" indent="0" defTabSz="457200">
              <a:lnSpc>
                <a:spcPct val="90000"/>
              </a:lnSpc>
              <a:spcAft>
                <a:spcPts val="0"/>
              </a:spcAft>
            </a:pPr>
            <a:r>
              <a:rPr lang="en-US" sz="2800" dirty="0"/>
              <a:t>ASTROSAGE</a:t>
            </a:r>
            <a:r>
              <a:rPr lang="en-US" sz="2300" dirty="0"/>
              <a:t> </a:t>
            </a:r>
            <a:r>
              <a:rPr lang="en-US" sz="2800" dirty="0"/>
              <a:t>ANALYSIS</a:t>
            </a:r>
          </a:p>
          <a:p>
            <a:pPr marL="0" lvl="0" indent="0" defTabSz="457200">
              <a:lnSpc>
                <a:spcPct val="90000"/>
              </a:lnSpc>
              <a:spcAft>
                <a:spcPts val="0"/>
              </a:spcAft>
            </a:pPr>
            <a:endParaRPr lang="en-US" sz="2300" dirty="0"/>
          </a:p>
          <a:p>
            <a:pPr marL="914400" lvl="0" indent="0" defTabSz="457200">
              <a:lnSpc>
                <a:spcPct val="90000"/>
              </a:lnSpc>
              <a:spcAft>
                <a:spcPts val="0"/>
              </a:spcAft>
            </a:pPr>
            <a:r>
              <a:rPr lang="en-US" sz="2300" dirty="0">
                <a:sym typeface="Georgia"/>
              </a:rPr>
              <a:t>                          - </a:t>
            </a:r>
            <a:r>
              <a:rPr lang="en-US" sz="1800" dirty="0">
                <a:sym typeface="Georgia"/>
              </a:rPr>
              <a:t>Sathya Narayan G</a:t>
            </a:r>
          </a:p>
        </p:txBody>
      </p:sp>
      <p:sp>
        <p:nvSpPr>
          <p:cNvPr id="99" name="Isosceles Triangle 98">
            <a:extLst>
              <a:ext uri="{FF2B5EF4-FFF2-40B4-BE49-F238E27FC236}">
                <a16:creationId xmlns:a16="http://schemas.microsoft.com/office/drawing/2014/main" id="{F6E918B1-FA59-42EF-8A8E-B0F3D1E540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380" y="9525"/>
            <a:ext cx="631947" cy="4249615"/>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55" name="Google Shape;55;p13"/>
          <p:cNvPicPr preferRelativeResize="0"/>
          <p:nvPr/>
        </p:nvPicPr>
        <p:blipFill>
          <a:blip r:embed="rId3"/>
          <a:stretch>
            <a:fillRect/>
          </a:stretch>
        </p:blipFill>
        <p:spPr>
          <a:xfrm>
            <a:off x="1080462" y="945997"/>
            <a:ext cx="3251505" cy="3251505"/>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59"/>
        <p:cNvGrpSpPr/>
        <p:nvPr/>
      </p:nvGrpSpPr>
      <p:grpSpPr>
        <a:xfrm>
          <a:off x="0" y="0"/>
          <a:ext cx="0" cy="0"/>
          <a:chOff x="0" y="0"/>
          <a:chExt cx="0" cy="0"/>
        </a:xfrm>
      </p:grpSpPr>
      <p:grpSp>
        <p:nvGrpSpPr>
          <p:cNvPr id="66" name="Group 65">
            <a:extLst>
              <a:ext uri="{FF2B5EF4-FFF2-40B4-BE49-F238E27FC236}">
                <a16:creationId xmlns:a16="http://schemas.microsoft.com/office/drawing/2014/main" id="{2A83B46E-4B9D-41E7-AEA4-D49D0E7D87A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6350"/>
            <a:ext cx="9144001" cy="5149850"/>
            <a:chOff x="0" y="-8467"/>
            <a:chExt cx="12192000" cy="6866467"/>
          </a:xfrm>
        </p:grpSpPr>
        <p:cxnSp>
          <p:nvCxnSpPr>
            <p:cNvPr id="67" name="Straight Connector 66">
              <a:extLst>
                <a:ext uri="{FF2B5EF4-FFF2-40B4-BE49-F238E27FC236}">
                  <a16:creationId xmlns:a16="http://schemas.microsoft.com/office/drawing/2014/main" id="{396A8005-E9F4-4EB9-8920-B40570B4AAB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68" name="Straight Connector 67">
              <a:extLst>
                <a:ext uri="{FF2B5EF4-FFF2-40B4-BE49-F238E27FC236}">
                  <a16:creationId xmlns:a16="http://schemas.microsoft.com/office/drawing/2014/main" id="{90635935-0E19-45AE-833C-28B82B087FE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69" name="Rectangle 23">
              <a:extLst>
                <a:ext uri="{FF2B5EF4-FFF2-40B4-BE49-F238E27FC236}">
                  <a16:creationId xmlns:a16="http://schemas.microsoft.com/office/drawing/2014/main" id="{3F51BFFB-86E2-4C0F-A3E6-9EB854CA43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70" name="Rectangle 25">
              <a:extLst>
                <a:ext uri="{FF2B5EF4-FFF2-40B4-BE49-F238E27FC236}">
                  <a16:creationId xmlns:a16="http://schemas.microsoft.com/office/drawing/2014/main" id="{BC377650-A34B-4F5C-9CF6-357C1AE1A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71" name="Isosceles Triangle 70">
              <a:extLst>
                <a:ext uri="{FF2B5EF4-FFF2-40B4-BE49-F238E27FC236}">
                  <a16:creationId xmlns:a16="http://schemas.microsoft.com/office/drawing/2014/main" id="{8EDFD6E0-0A92-4B6A-8B1C-6DD83E6294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72" name="Rectangle 27">
              <a:extLst>
                <a:ext uri="{FF2B5EF4-FFF2-40B4-BE49-F238E27FC236}">
                  <a16:creationId xmlns:a16="http://schemas.microsoft.com/office/drawing/2014/main" id="{A1D08E0A-48F2-475F-933A-7D65C5B04F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73" name="Rectangle 28">
              <a:extLst>
                <a:ext uri="{FF2B5EF4-FFF2-40B4-BE49-F238E27FC236}">
                  <a16:creationId xmlns:a16="http://schemas.microsoft.com/office/drawing/2014/main" id="{43F7D684-BFDD-4685-8195-32F1ABE31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74" name="Rectangle 29">
              <a:extLst>
                <a:ext uri="{FF2B5EF4-FFF2-40B4-BE49-F238E27FC236}">
                  <a16:creationId xmlns:a16="http://schemas.microsoft.com/office/drawing/2014/main" id="{4A0E8712-3D59-4F13-9FD3-F8889E3C54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75" name="Isosceles Triangle 74">
              <a:extLst>
                <a:ext uri="{FF2B5EF4-FFF2-40B4-BE49-F238E27FC236}">
                  <a16:creationId xmlns:a16="http://schemas.microsoft.com/office/drawing/2014/main" id="{D99F7967-C64D-482A-A1B6-896D7EC227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76" name="Isosceles Triangle 75">
              <a:extLst>
                <a:ext uri="{FF2B5EF4-FFF2-40B4-BE49-F238E27FC236}">
                  <a16:creationId xmlns:a16="http://schemas.microsoft.com/office/drawing/2014/main" id="{7CE53433-52BD-4F44-80A5-B57F4B53A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cxnSp>
        <p:nvCxnSpPr>
          <p:cNvPr id="78" name="Straight Connector 77">
            <a:extLst>
              <a:ext uri="{FF2B5EF4-FFF2-40B4-BE49-F238E27FC236}">
                <a16:creationId xmlns:a16="http://schemas.microsoft.com/office/drawing/2014/main" id="{0B5F7E3B-C5F1-40E0-A491-558BAFBC11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181353" y="1095375"/>
            <a:ext cx="0" cy="2952750"/>
          </a:xfrm>
          <a:prstGeom prst="line">
            <a:avLst/>
          </a:prstGeom>
        </p:spPr>
        <p:style>
          <a:lnRef idx="1">
            <a:schemeClr val="accent1"/>
          </a:lnRef>
          <a:fillRef idx="0">
            <a:schemeClr val="accent1"/>
          </a:fillRef>
          <a:effectRef idx="0">
            <a:schemeClr val="accent1"/>
          </a:effectRef>
          <a:fontRef idx="minor">
            <a:schemeClr val="tx1"/>
          </a:fontRef>
        </p:style>
      </p:cxnSp>
      <p:sp>
        <p:nvSpPr>
          <p:cNvPr id="60" name="Google Shape;60;p14"/>
          <p:cNvSpPr txBox="1">
            <a:spLocks noGrp="1"/>
          </p:cNvSpPr>
          <p:nvPr>
            <p:ph type="title"/>
          </p:nvPr>
        </p:nvSpPr>
        <p:spPr>
          <a:xfrm>
            <a:off x="482600" y="612478"/>
            <a:ext cx="2525519" cy="3918543"/>
          </a:xfrm>
          <a:prstGeom prst="rect">
            <a:avLst/>
          </a:prstGeom>
        </p:spPr>
        <p:txBody>
          <a:bodyPr spcFirstLastPara="1" vert="horz" lIns="91440" tIns="45720" rIns="91440" bIns="45720" rtlCol="0" anchor="ctr" anchorCtr="0">
            <a:normAutofit/>
          </a:bodyPr>
          <a:lstStyle/>
          <a:p>
            <a:pPr marL="0" lvl="0" indent="0" defTabSz="457200">
              <a:spcBef>
                <a:spcPct val="0"/>
              </a:spcBef>
              <a:spcAft>
                <a:spcPts val="0"/>
              </a:spcAft>
            </a:pPr>
            <a:r>
              <a:rPr lang="en-US" sz="2800" dirty="0"/>
              <a:t>ASTROSAGE</a:t>
            </a:r>
          </a:p>
        </p:txBody>
      </p:sp>
      <p:sp>
        <p:nvSpPr>
          <p:cNvPr id="61" name="Google Shape;61;p14"/>
          <p:cNvSpPr txBox="1">
            <a:spLocks noGrp="1"/>
          </p:cNvSpPr>
          <p:nvPr>
            <p:ph type="body" idx="1"/>
          </p:nvPr>
        </p:nvSpPr>
        <p:spPr>
          <a:xfrm>
            <a:off x="3490721" y="612478"/>
            <a:ext cx="3464779" cy="3918543"/>
          </a:xfrm>
          <a:prstGeom prst="rect">
            <a:avLst/>
          </a:prstGeom>
        </p:spPr>
        <p:txBody>
          <a:bodyPr spcFirstLastPara="1" vert="horz" lIns="91440" tIns="45720" rIns="91440" bIns="45720" rtlCol="0" anchor="ctr" anchorCtr="0">
            <a:normAutofit/>
          </a:bodyPr>
          <a:lstStyle/>
          <a:p>
            <a:pPr marL="0" lvl="0" indent="0" defTabSz="457200">
              <a:spcBef>
                <a:spcPts val="1000"/>
              </a:spcBef>
              <a:buSzPct val="80000"/>
              <a:buNone/>
            </a:pPr>
            <a:r>
              <a:rPr lang="en-US" sz="900" b="1" dirty="0" err="1">
                <a:sym typeface="Arial"/>
              </a:rPr>
              <a:t>AstroSage</a:t>
            </a:r>
            <a:r>
              <a:rPr lang="en-US" sz="900" dirty="0">
                <a:sym typeface="Arial"/>
              </a:rPr>
              <a:t> is an online astrology platform that provides horoscope predictions and astrology tools based on traditional Vedic astrology principles. It allows users to generate birth charts (</a:t>
            </a:r>
            <a:r>
              <a:rPr lang="en-US" sz="900" dirty="0" err="1">
                <a:sym typeface="Arial"/>
              </a:rPr>
              <a:t>Kundli</a:t>
            </a:r>
            <a:r>
              <a:rPr lang="en-US" sz="900" dirty="0">
                <a:sym typeface="Arial"/>
              </a:rPr>
              <a:t>) by entering their date, time, and place of birth. The platform offers daily, weekly, monthly, and yearly horoscopes, compatibility analysis, numerology reports, and personalized astrological insights. </a:t>
            </a:r>
            <a:r>
              <a:rPr lang="en-US" sz="900" dirty="0" err="1">
                <a:sym typeface="Arial"/>
              </a:rPr>
              <a:t>AstroSage</a:t>
            </a:r>
            <a:r>
              <a:rPr lang="en-US" sz="900" dirty="0">
                <a:sym typeface="Arial"/>
              </a:rPr>
              <a:t> also provides professional astrology software and learning resources for astrologers and beginners. Accessible through both website and mobile applications, it aims to make astrology easy and widely available using modern technology. Overall, </a:t>
            </a:r>
            <a:r>
              <a:rPr lang="en-US" sz="900" dirty="0" err="1">
                <a:sym typeface="Arial"/>
              </a:rPr>
              <a:t>AstroSage</a:t>
            </a:r>
            <a:r>
              <a:rPr lang="en-US" sz="900" dirty="0">
                <a:sym typeface="Arial"/>
              </a:rPr>
              <a:t> combines ancient astrological knowledge with digital tools to help users understand personality traits, relationships, career prospects, and future possibilities.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65"/>
        <p:cNvGrpSpPr/>
        <p:nvPr/>
      </p:nvGrpSpPr>
      <p:grpSpPr>
        <a:xfrm>
          <a:off x="0" y="0"/>
          <a:ext cx="0" cy="0"/>
          <a:chOff x="0" y="0"/>
          <a:chExt cx="0" cy="0"/>
        </a:xfrm>
      </p:grpSpPr>
      <p:grpSp>
        <p:nvGrpSpPr>
          <p:cNvPr id="120" name="Group 119">
            <a:extLst>
              <a:ext uri="{FF2B5EF4-FFF2-40B4-BE49-F238E27FC236}">
                <a16:creationId xmlns:a16="http://schemas.microsoft.com/office/drawing/2014/main" id="{E4951899-B99C-47AB-9C7C-16264D7A14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6350"/>
            <a:ext cx="9144001" cy="5149850"/>
            <a:chOff x="0" y="-8467"/>
            <a:chExt cx="12192000" cy="6866467"/>
          </a:xfrm>
        </p:grpSpPr>
        <p:cxnSp>
          <p:nvCxnSpPr>
            <p:cNvPr id="121" name="Straight Connector 120">
              <a:extLst>
                <a:ext uri="{FF2B5EF4-FFF2-40B4-BE49-F238E27FC236}">
                  <a16:creationId xmlns:a16="http://schemas.microsoft.com/office/drawing/2014/main" id="{B94D217E-92A1-48B2-B6BF-8B6A35AF9DD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22" name="Straight Connector 121">
              <a:extLst>
                <a:ext uri="{FF2B5EF4-FFF2-40B4-BE49-F238E27FC236}">
                  <a16:creationId xmlns:a16="http://schemas.microsoft.com/office/drawing/2014/main" id="{69582FD9-95AB-4339-8A07-BAD420BE104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23" name="Rectangle 23">
              <a:extLst>
                <a:ext uri="{FF2B5EF4-FFF2-40B4-BE49-F238E27FC236}">
                  <a16:creationId xmlns:a16="http://schemas.microsoft.com/office/drawing/2014/main" id="{6778DC79-DE09-4F89-81B1-275C542D7F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24" name="Rectangle 25">
              <a:extLst>
                <a:ext uri="{FF2B5EF4-FFF2-40B4-BE49-F238E27FC236}">
                  <a16:creationId xmlns:a16="http://schemas.microsoft.com/office/drawing/2014/main" id="{EAEC370A-1F34-4D8E-B065-81F6F568AA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25" name="Isosceles Triangle 124">
              <a:extLst>
                <a:ext uri="{FF2B5EF4-FFF2-40B4-BE49-F238E27FC236}">
                  <a16:creationId xmlns:a16="http://schemas.microsoft.com/office/drawing/2014/main" id="{A816EDF3-D9EE-488C-AFDC-0223815139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26" name="Rectangle 27">
              <a:extLst>
                <a:ext uri="{FF2B5EF4-FFF2-40B4-BE49-F238E27FC236}">
                  <a16:creationId xmlns:a16="http://schemas.microsoft.com/office/drawing/2014/main" id="{E8330BD4-97D9-4D24-815A-0E557B04F9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27" name="Rectangle 28">
              <a:extLst>
                <a:ext uri="{FF2B5EF4-FFF2-40B4-BE49-F238E27FC236}">
                  <a16:creationId xmlns:a16="http://schemas.microsoft.com/office/drawing/2014/main" id="{EA8EDE67-BAC0-478C-99D9-BBC5AD5320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28" name="Rectangle 29">
              <a:extLst>
                <a:ext uri="{FF2B5EF4-FFF2-40B4-BE49-F238E27FC236}">
                  <a16:creationId xmlns:a16="http://schemas.microsoft.com/office/drawing/2014/main" id="{33DFB3F3-2523-4F1F-BC2B-B97C172F2C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29" name="Isosceles Triangle 128">
              <a:extLst>
                <a:ext uri="{FF2B5EF4-FFF2-40B4-BE49-F238E27FC236}">
                  <a16:creationId xmlns:a16="http://schemas.microsoft.com/office/drawing/2014/main" id="{5E5660E4-7443-4FCC-AD43-9D1AE972B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30" name="Isosceles Triangle 129">
              <a:extLst>
                <a:ext uri="{FF2B5EF4-FFF2-40B4-BE49-F238E27FC236}">
                  <a16:creationId xmlns:a16="http://schemas.microsoft.com/office/drawing/2014/main" id="{4EDF9C36-B365-4426-85B9-82E0DE187A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pic>
        <p:nvPicPr>
          <p:cNvPr id="67" name="Google Shape;67;p15"/>
          <p:cNvPicPr preferRelativeResize="0"/>
          <p:nvPr/>
        </p:nvPicPr>
        <p:blipFill>
          <a:blip r:embed="rId3"/>
          <a:srcRect t="14698" r="2" b="1982"/>
          <a:stretch>
            <a:fillRect/>
          </a:stretch>
        </p:blipFill>
        <p:spPr>
          <a:xfrm>
            <a:off x="3202390" y="10"/>
            <a:ext cx="5941610" cy="5143490"/>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a:noFill/>
        </p:spPr>
      </p:pic>
      <p:sp>
        <p:nvSpPr>
          <p:cNvPr id="78" name="Google Shape;66;p15"/>
          <p:cNvSpPr txBox="1"/>
          <p:nvPr/>
        </p:nvSpPr>
        <p:spPr>
          <a:xfrm>
            <a:off x="508000" y="1620441"/>
            <a:ext cx="2888342" cy="2910580"/>
          </a:xfrm>
          <a:prstGeom prst="rect">
            <a:avLst/>
          </a:prstGeom>
        </p:spPr>
        <p:txBody>
          <a:bodyPr spcFirstLastPara="1" vert="horz" lIns="91440" tIns="45720" rIns="91440" bIns="45720" rtlCol="0" anchorCtr="0">
            <a:normAutofit/>
          </a:bodyPr>
          <a:lstStyle/>
          <a:p>
            <a:pPr marL="0" lvl="0" indent="-228600">
              <a:lnSpc>
                <a:spcPct val="90000"/>
              </a:lnSpc>
              <a:spcBef>
                <a:spcPts val="1000"/>
              </a:spcBef>
              <a:buClr>
                <a:schemeClr val="accent1"/>
              </a:buClr>
              <a:buSzPct val="80000"/>
              <a:buFont typeface="Wingdings 3" charset="2"/>
              <a:buChar char=""/>
            </a:pPr>
            <a:r>
              <a:rPr lang="en-US" sz="900" dirty="0">
                <a:solidFill>
                  <a:schemeClr val="tx1">
                    <a:lumMod val="75000"/>
                    <a:lumOff val="25000"/>
                  </a:schemeClr>
                </a:solidFill>
                <a:effectLst>
                  <a:outerShdw blurRad="50800" dist="38100" dir="2700000" algn="tl" rotWithShape="0">
                    <a:srgbClr val="000000">
                      <a:alpha val="48000"/>
                    </a:srgbClr>
                  </a:outerShdw>
                </a:effectLst>
              </a:rPr>
              <a:t>The </a:t>
            </a:r>
            <a:r>
              <a:rPr lang="en-US" sz="900" b="1">
                <a:solidFill>
                  <a:schemeClr val="tx1">
                    <a:lumMod val="75000"/>
                    <a:lumOff val="25000"/>
                  </a:schemeClr>
                </a:solidFill>
                <a:effectLst>
                  <a:outerShdw blurRad="50800" dist="38100" dir="2700000" algn="tl" rotWithShape="0">
                    <a:srgbClr val="000000">
                      <a:alpha val="48000"/>
                    </a:srgbClr>
                  </a:outerShdw>
                </a:effectLst>
              </a:rPr>
              <a:t>AstroSage</a:t>
            </a:r>
            <a:r>
              <a:rPr lang="en-US" sz="900" b="1" dirty="0">
                <a:solidFill>
                  <a:schemeClr val="tx1">
                    <a:lumMod val="75000"/>
                    <a:lumOff val="25000"/>
                  </a:schemeClr>
                </a:solidFill>
                <a:effectLst>
                  <a:outerShdw blurRad="50800" dist="38100" dir="2700000" algn="tl" rotWithShape="0">
                    <a:srgbClr val="000000">
                      <a:alpha val="48000"/>
                    </a:srgbClr>
                  </a:outerShdw>
                </a:effectLst>
              </a:rPr>
              <a:t> Call Center</a:t>
            </a:r>
            <a:r>
              <a:rPr lang="en-US" sz="900" dirty="0">
                <a:solidFill>
                  <a:schemeClr val="tx1">
                    <a:lumMod val="75000"/>
                    <a:lumOff val="25000"/>
                  </a:schemeClr>
                </a:solidFill>
                <a:effectLst>
                  <a:outerShdw blurRad="50800" dist="38100" dir="2700000" algn="tl" rotWithShape="0">
                    <a:srgbClr val="000000">
                      <a:alpha val="48000"/>
                    </a:srgbClr>
                  </a:outerShdw>
                </a:effectLst>
              </a:rPr>
              <a:t> is the customer support and consultation service of </a:t>
            </a:r>
            <a:r>
              <a:rPr lang="en-US" sz="900" b="1">
                <a:solidFill>
                  <a:schemeClr val="tx1">
                    <a:lumMod val="75000"/>
                    <a:lumOff val="25000"/>
                  </a:schemeClr>
                </a:solidFill>
                <a:effectLst>
                  <a:outerShdw blurRad="50800" dist="38100" dir="2700000" algn="tl" rotWithShape="0">
                    <a:srgbClr val="000000">
                      <a:alpha val="48000"/>
                    </a:srgbClr>
                  </a:outerShdw>
                </a:effectLst>
              </a:rPr>
              <a:t>AstroSage</a:t>
            </a:r>
            <a:r>
              <a:rPr lang="en-US" sz="900" dirty="0">
                <a:solidFill>
                  <a:schemeClr val="tx1">
                    <a:lumMod val="75000"/>
                    <a:lumOff val="25000"/>
                  </a:schemeClr>
                </a:solidFill>
                <a:effectLst>
                  <a:outerShdw blurRad="50800" dist="38100" dir="2700000" algn="tl" rotWithShape="0">
                    <a:srgbClr val="000000">
                      <a:alpha val="48000"/>
                    </a:srgbClr>
                  </a:outerShdw>
                </a:effectLst>
              </a:rPr>
              <a:t>, an Indian online astrology platform. It helps users connect with astrologers and resolve service-related queries through phone, chat, or email.</a:t>
            </a:r>
          </a:p>
          <a:p>
            <a:pPr marL="0" lvl="0" indent="-228600">
              <a:lnSpc>
                <a:spcPct val="90000"/>
              </a:lnSpc>
              <a:spcBef>
                <a:spcPts val="1000"/>
              </a:spcBef>
              <a:buClr>
                <a:schemeClr val="accent1"/>
              </a:buClr>
              <a:buSzPct val="80000"/>
              <a:buFont typeface="Wingdings 3" charset="2"/>
              <a:buChar char=""/>
            </a:pPr>
            <a:r>
              <a:rPr lang="en-US" sz="900" dirty="0">
                <a:solidFill>
                  <a:schemeClr val="tx1">
                    <a:lumMod val="75000"/>
                    <a:lumOff val="25000"/>
                  </a:schemeClr>
                </a:solidFill>
                <a:effectLst>
                  <a:outerShdw blurRad="50800" dist="38100" dir="2700000" algn="tl" rotWithShape="0">
                    <a:srgbClr val="000000">
                      <a:alpha val="48000"/>
                    </a:srgbClr>
                  </a:outerShdw>
                </a:effectLst>
              </a:rPr>
              <a:t>The call center mainly handles customer assistance such as booking astrology consultations, answering questions about horoscope reports, payments, account issues, and product orders like gemstones or spiritual items. Customers can also talk directly with astrologers for guidance related to career, marriage, finance, health, or personal life predictions.</a:t>
            </a:r>
          </a:p>
          <a:p>
            <a:pPr marL="0" lvl="0" indent="-228600">
              <a:lnSpc>
                <a:spcPct val="90000"/>
              </a:lnSpc>
              <a:spcBef>
                <a:spcPts val="1000"/>
              </a:spcBef>
              <a:buClr>
                <a:schemeClr val="accent1"/>
              </a:buClr>
              <a:buSzPct val="80000"/>
              <a:buFont typeface="Wingdings 3" charset="2"/>
              <a:buChar char=""/>
            </a:pPr>
            <a:r>
              <a:rPr lang="en-US" sz="900" dirty="0">
                <a:solidFill>
                  <a:schemeClr val="tx1">
                    <a:lumMod val="75000"/>
                    <a:lumOff val="25000"/>
                  </a:schemeClr>
                </a:solidFill>
                <a:effectLst>
                  <a:outerShdw blurRad="50800" dist="38100" dir="2700000" algn="tl" rotWithShape="0">
                    <a:srgbClr val="000000">
                      <a:alpha val="48000"/>
                    </a:srgbClr>
                  </a:outerShdw>
                </a:effectLst>
              </a:rPr>
              <a:t>Support is provided via phone and online channels, with customer care available during working hours and email support for queries. The service acts as the communication bridge between users and </a:t>
            </a:r>
            <a:r>
              <a:rPr lang="en-US" sz="900">
                <a:solidFill>
                  <a:schemeClr val="tx1">
                    <a:lumMod val="75000"/>
                    <a:lumOff val="25000"/>
                  </a:schemeClr>
                </a:solidFill>
                <a:effectLst>
                  <a:outerShdw blurRad="50800" dist="38100" dir="2700000" algn="tl" rotWithShape="0">
                    <a:srgbClr val="000000">
                      <a:alpha val="48000"/>
                    </a:srgbClr>
                  </a:outerShdw>
                </a:effectLst>
              </a:rPr>
              <a:t>AstroSage’s</a:t>
            </a:r>
            <a:r>
              <a:rPr lang="en-US" sz="900" dirty="0">
                <a:solidFill>
                  <a:schemeClr val="tx1">
                    <a:lumMod val="75000"/>
                    <a:lumOff val="25000"/>
                  </a:schemeClr>
                </a:solidFill>
                <a:effectLst>
                  <a:outerShdw blurRad="50800" dist="38100" dir="2700000" algn="tl" rotWithShape="0">
                    <a:srgbClr val="000000">
                      <a:alpha val="48000"/>
                    </a:srgbClr>
                  </a:outerShdw>
                </a:effectLst>
              </a:rPr>
              <a:t> astrology experts and digital services.</a:t>
            </a:r>
          </a:p>
        </p:txBody>
      </p:sp>
      <p:cxnSp>
        <p:nvCxnSpPr>
          <p:cNvPr id="132" name="Straight Connector 131">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51435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34" name="Straight Connector 133">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2761059"/>
            <a:ext cx="3572668" cy="2382441"/>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6"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6350"/>
            <a:ext cx="2255511" cy="5149850"/>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38"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6350"/>
            <a:ext cx="1941419" cy="5149850"/>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40"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2286000"/>
            <a:ext cx="2444751" cy="28575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42"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6350"/>
            <a:ext cx="2140744" cy="5149850"/>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44"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6350"/>
            <a:ext cx="967571" cy="5149850"/>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46"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6350"/>
            <a:ext cx="937369" cy="5149850"/>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48"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2692400"/>
            <a:ext cx="1362869" cy="245110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7"/>
                                        </p:tgtEl>
                                        <p:attrNameLst>
                                          <p:attrName>style.visibility</p:attrName>
                                        </p:attrNameLst>
                                      </p:cBhvr>
                                      <p:to>
                                        <p:strVal val="visible"/>
                                      </p:to>
                                    </p:set>
                                    <p:animEffect transition="in" filter="fade">
                                      <p:cBhvr>
                                        <p:cTn id="7" dur="10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4815A7B4-532E-48C9-AC24-D78ACF3339D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6350"/>
            <a:ext cx="9144000" cy="5149850"/>
            <a:chOff x="0" y="-8467"/>
            <a:chExt cx="12192000" cy="6866467"/>
          </a:xfrm>
        </p:grpSpPr>
        <p:sp>
          <p:nvSpPr>
            <p:cNvPr id="11" name="Freeform 14">
              <a:extLst>
                <a:ext uri="{FF2B5EF4-FFF2-40B4-BE49-F238E27FC236}">
                  <a16:creationId xmlns:a16="http://schemas.microsoft.com/office/drawing/2014/main" id="{D40109F4-CE5C-45F4-856E-F3F69C9FD4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cxnSp>
          <p:nvCxnSpPr>
            <p:cNvPr id="12" name="Straight Connector 11">
              <a:extLst>
                <a:ext uri="{FF2B5EF4-FFF2-40B4-BE49-F238E27FC236}">
                  <a16:creationId xmlns:a16="http://schemas.microsoft.com/office/drawing/2014/main" id="{3CBAA4DE-3D7B-460B-AE98-D9F9990C0B6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7BF1ED3E-4F80-4AF6-A41B-44F53DDE610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C0B2D747-3E31-45C5-9A98-A9710A585F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5" name="Rectangle 25">
              <a:extLst>
                <a:ext uri="{FF2B5EF4-FFF2-40B4-BE49-F238E27FC236}">
                  <a16:creationId xmlns:a16="http://schemas.microsoft.com/office/drawing/2014/main" id="{A15FD4BA-3020-462D-8BE8-B3A65B8E49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6" name="Isosceles Triangle 15">
              <a:extLst>
                <a:ext uri="{FF2B5EF4-FFF2-40B4-BE49-F238E27FC236}">
                  <a16:creationId xmlns:a16="http://schemas.microsoft.com/office/drawing/2014/main" id="{A304284A-7318-4DD5-898C-2F6B23C778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7" name="Rectangle 27">
              <a:extLst>
                <a:ext uri="{FF2B5EF4-FFF2-40B4-BE49-F238E27FC236}">
                  <a16:creationId xmlns:a16="http://schemas.microsoft.com/office/drawing/2014/main" id="{9DF48E66-B635-4509-B115-E0987C014E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8" name="Rectangle 28">
              <a:extLst>
                <a:ext uri="{FF2B5EF4-FFF2-40B4-BE49-F238E27FC236}">
                  <a16:creationId xmlns:a16="http://schemas.microsoft.com/office/drawing/2014/main" id="{E3B96D94-5F5A-4F4C-810C-917BF4D266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Rectangle 29">
              <a:extLst>
                <a:ext uri="{FF2B5EF4-FFF2-40B4-BE49-F238E27FC236}">
                  <a16:creationId xmlns:a16="http://schemas.microsoft.com/office/drawing/2014/main" id="{7F3782D6-BFF8-4389-9D39-A023ADAA92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0" name="Isosceles Triangle 19">
              <a:extLst>
                <a:ext uri="{FF2B5EF4-FFF2-40B4-BE49-F238E27FC236}">
                  <a16:creationId xmlns:a16="http://schemas.microsoft.com/office/drawing/2014/main" id="{ECE162D4-FCAE-441B-B5E9-C91DE62124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a:extLst>
              <a:ext uri="{FF2B5EF4-FFF2-40B4-BE49-F238E27FC236}">
                <a16:creationId xmlns:a16="http://schemas.microsoft.com/office/drawing/2014/main" id="{E005F365-B8A1-0D94-8DD2-DA0AA6981961}"/>
              </a:ext>
            </a:extLst>
          </p:cNvPr>
          <p:cNvSpPr>
            <a:spLocks noGrp="1"/>
          </p:cNvSpPr>
          <p:nvPr>
            <p:ph type="title"/>
          </p:nvPr>
        </p:nvSpPr>
        <p:spPr>
          <a:xfrm>
            <a:off x="4571141" y="945998"/>
            <a:ext cx="2623174" cy="2251996"/>
          </a:xfrm>
        </p:spPr>
        <p:txBody>
          <a:bodyPr vert="horz" lIns="91440" tIns="45720" rIns="91440" bIns="45720" rtlCol="0" anchor="b">
            <a:normAutofit fontScale="90000"/>
          </a:bodyPr>
          <a:lstStyle/>
          <a:p>
            <a:pPr defTabSz="457200">
              <a:lnSpc>
                <a:spcPct val="90000"/>
              </a:lnSpc>
              <a:spcBef>
                <a:spcPct val="0"/>
              </a:spcBef>
            </a:pPr>
            <a:r>
              <a:rPr lang="en-US" sz="2800" b="1" dirty="0"/>
              <a:t>Problem Statement</a:t>
            </a:r>
            <a:br>
              <a:rPr lang="en-US" sz="1100" dirty="0"/>
            </a:br>
            <a:br>
              <a:rPr lang="en-US" sz="1100" dirty="0"/>
            </a:br>
            <a:r>
              <a:rPr lang="en-US" sz="900" b="0" dirty="0" err="1"/>
              <a:t>AstroSage</a:t>
            </a:r>
            <a:r>
              <a:rPr lang="en-US" sz="900" b="0" dirty="0"/>
              <a:t> has received a 1 crore investment and aims to optimize its call center operations. The goal is to determine how to allocate this investment to maximize operational efficiency, customer satisfaction, and profitability. The analysis will consider historical call data, performance metrics, and market trends to make informed decisions.</a:t>
            </a:r>
            <a:br>
              <a:rPr lang="en-US" sz="900" b="0" dirty="0"/>
            </a:br>
            <a:br>
              <a:rPr lang="en-US" sz="1100" dirty="0"/>
            </a:br>
            <a:endParaRPr lang="en-US" sz="1100" dirty="0"/>
          </a:p>
        </p:txBody>
      </p:sp>
      <p:sp>
        <p:nvSpPr>
          <p:cNvPr id="22" name="Isosceles Triangle 21">
            <a:extLst>
              <a:ext uri="{FF2B5EF4-FFF2-40B4-BE49-F238E27FC236}">
                <a16:creationId xmlns:a16="http://schemas.microsoft.com/office/drawing/2014/main" id="{F6E918B1-FA59-42EF-8A8E-B0F3D1E540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380" y="9525"/>
            <a:ext cx="631947" cy="4249615"/>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5" name="Picture 4">
            <a:extLst>
              <a:ext uri="{FF2B5EF4-FFF2-40B4-BE49-F238E27FC236}">
                <a16:creationId xmlns:a16="http://schemas.microsoft.com/office/drawing/2014/main" id="{985F328A-06C0-686B-BEFB-A00B8008C5DF}"/>
              </a:ext>
            </a:extLst>
          </p:cNvPr>
          <p:cNvPicPr>
            <a:picLocks noChangeAspect="1"/>
          </p:cNvPicPr>
          <p:nvPr/>
        </p:nvPicPr>
        <p:blipFill>
          <a:blip r:embed="rId2"/>
          <a:srcRect l="102" r="32343" b="1"/>
          <a:stretch>
            <a:fillRect/>
          </a:stretch>
        </p:blipFill>
        <p:spPr>
          <a:xfrm>
            <a:off x="666452" y="1540826"/>
            <a:ext cx="3665515" cy="2061847"/>
          </a:xfrm>
          <a:prstGeom prst="rect">
            <a:avLst/>
          </a:prstGeom>
        </p:spPr>
      </p:pic>
    </p:spTree>
    <p:extLst>
      <p:ext uri="{BB962C8B-B14F-4D97-AF65-F5344CB8AC3E}">
        <p14:creationId xmlns:p14="http://schemas.microsoft.com/office/powerpoint/2010/main" val="232407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71"/>
        <p:cNvGrpSpPr/>
        <p:nvPr/>
      </p:nvGrpSpPr>
      <p:grpSpPr>
        <a:xfrm>
          <a:off x="0" y="0"/>
          <a:ext cx="0" cy="0"/>
          <a:chOff x="0" y="0"/>
          <a:chExt cx="0" cy="0"/>
        </a:xfrm>
      </p:grpSpPr>
      <p:grpSp>
        <p:nvGrpSpPr>
          <p:cNvPr id="79" name="Group 78">
            <a:extLst>
              <a:ext uri="{FF2B5EF4-FFF2-40B4-BE49-F238E27FC236}">
                <a16:creationId xmlns:a16="http://schemas.microsoft.com/office/drawing/2014/main" id="{D6280969-F024-466D-A1DB-4F848C51DE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6350"/>
            <a:ext cx="9144001" cy="5149850"/>
            <a:chOff x="0" y="-8467"/>
            <a:chExt cx="12192000" cy="6866467"/>
          </a:xfrm>
        </p:grpSpPr>
        <p:cxnSp>
          <p:nvCxnSpPr>
            <p:cNvPr id="80" name="Straight Connector 79">
              <a:extLst>
                <a:ext uri="{FF2B5EF4-FFF2-40B4-BE49-F238E27FC236}">
                  <a16:creationId xmlns:a16="http://schemas.microsoft.com/office/drawing/2014/main" id="{63FDD802-E6D8-4979-A1B9-BA705AE4DA8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BDE509DD-4B76-45F0-8144-02F1D7E1AE0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82" name="Rectangle 23">
              <a:extLst>
                <a:ext uri="{FF2B5EF4-FFF2-40B4-BE49-F238E27FC236}">
                  <a16:creationId xmlns:a16="http://schemas.microsoft.com/office/drawing/2014/main" id="{FEAEFD53-0220-48B1-9EA8-3EAE151E84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83" name="Rectangle 25">
              <a:extLst>
                <a:ext uri="{FF2B5EF4-FFF2-40B4-BE49-F238E27FC236}">
                  <a16:creationId xmlns:a16="http://schemas.microsoft.com/office/drawing/2014/main" id="{92E7FABD-916D-4FF9-B5F3-44E53AFD39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84" name="Isosceles Triangle 83">
              <a:extLst>
                <a:ext uri="{FF2B5EF4-FFF2-40B4-BE49-F238E27FC236}">
                  <a16:creationId xmlns:a16="http://schemas.microsoft.com/office/drawing/2014/main" id="{826F9772-AEFE-4C6D-82B6-1207069B86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85" name="Rectangle 27">
              <a:extLst>
                <a:ext uri="{FF2B5EF4-FFF2-40B4-BE49-F238E27FC236}">
                  <a16:creationId xmlns:a16="http://schemas.microsoft.com/office/drawing/2014/main" id="{ACFBF3A9-B76A-4B4B-B6D7-CA4651F5C9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86" name="Rectangle 28">
              <a:extLst>
                <a:ext uri="{FF2B5EF4-FFF2-40B4-BE49-F238E27FC236}">
                  <a16:creationId xmlns:a16="http://schemas.microsoft.com/office/drawing/2014/main" id="{BF0FAA0A-B682-4A83-BDD8-BCE0AB41C2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87" name="Rectangle 29">
              <a:extLst>
                <a:ext uri="{FF2B5EF4-FFF2-40B4-BE49-F238E27FC236}">
                  <a16:creationId xmlns:a16="http://schemas.microsoft.com/office/drawing/2014/main" id="{7874A013-E5E2-4AE1-8E93-029A2B41EB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88" name="Isosceles Triangle 87">
              <a:extLst>
                <a:ext uri="{FF2B5EF4-FFF2-40B4-BE49-F238E27FC236}">
                  <a16:creationId xmlns:a16="http://schemas.microsoft.com/office/drawing/2014/main" id="{4355329E-E608-4F7A-B4EF-8FEF07D755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89" name="Isosceles Triangle 88">
              <a:extLst>
                <a:ext uri="{FF2B5EF4-FFF2-40B4-BE49-F238E27FC236}">
                  <a16:creationId xmlns:a16="http://schemas.microsoft.com/office/drawing/2014/main" id="{53D9BFDF-B250-44FF-9BD7-C204EFBFC1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72" name="Google Shape;72;p16"/>
          <p:cNvSpPr txBox="1">
            <a:spLocks noGrp="1"/>
          </p:cNvSpPr>
          <p:nvPr>
            <p:ph type="title"/>
          </p:nvPr>
        </p:nvSpPr>
        <p:spPr>
          <a:xfrm>
            <a:off x="398438" y="129055"/>
            <a:ext cx="2509488" cy="990600"/>
          </a:xfrm>
          <a:prstGeom prst="rect">
            <a:avLst/>
          </a:prstGeom>
        </p:spPr>
        <p:txBody>
          <a:bodyPr spcFirstLastPara="1" vert="horz" lIns="91440" tIns="45720" rIns="91440" bIns="45720" rtlCol="0" anchor="ctr" anchorCtr="0">
            <a:normAutofit/>
          </a:bodyPr>
          <a:lstStyle/>
          <a:p>
            <a:pPr marL="0" lvl="0" indent="0" defTabSz="457200">
              <a:lnSpc>
                <a:spcPct val="90000"/>
              </a:lnSpc>
              <a:spcBef>
                <a:spcPct val="0"/>
              </a:spcBef>
              <a:spcAft>
                <a:spcPts val="0"/>
              </a:spcAft>
              <a:buSzPts val="990"/>
            </a:pPr>
            <a:r>
              <a:rPr lang="en-US" sz="2800" dirty="0"/>
              <a:t>ABOUT THE DATASET</a:t>
            </a:r>
          </a:p>
        </p:txBody>
      </p:sp>
      <p:pic>
        <p:nvPicPr>
          <p:cNvPr id="74" name="Google Shape;74;p16"/>
          <p:cNvPicPr preferRelativeResize="0"/>
          <p:nvPr/>
        </p:nvPicPr>
        <p:blipFill>
          <a:blip r:embed="rId3"/>
          <a:stretch>
            <a:fillRect/>
          </a:stretch>
        </p:blipFill>
        <p:spPr>
          <a:xfrm>
            <a:off x="244100" y="1512981"/>
            <a:ext cx="2255512" cy="2201769"/>
          </a:xfrm>
          <a:prstGeom prst="rect">
            <a:avLst/>
          </a:prstGeom>
          <a:noFill/>
        </p:spPr>
      </p:pic>
      <p:sp>
        <p:nvSpPr>
          <p:cNvPr id="73" name="Google Shape;73;p16"/>
          <p:cNvSpPr txBox="1">
            <a:spLocks noGrp="1"/>
          </p:cNvSpPr>
          <p:nvPr>
            <p:ph type="body" idx="1"/>
          </p:nvPr>
        </p:nvSpPr>
        <p:spPr>
          <a:xfrm>
            <a:off x="2892677" y="352985"/>
            <a:ext cx="4222249" cy="3866029"/>
          </a:xfrm>
          <a:prstGeom prst="rect">
            <a:avLst/>
          </a:prstGeom>
        </p:spPr>
        <p:txBody>
          <a:bodyPr spcFirstLastPara="1" vert="horz" lIns="91440" tIns="45720" rIns="91440" bIns="45720" rtlCol="0" anchorCtr="0">
            <a:normAutofit fontScale="25000" lnSpcReduction="20000"/>
          </a:bodyPr>
          <a:lstStyle/>
          <a:p>
            <a:pPr marL="0" lvl="0" indent="0" defTabSz="457200">
              <a:lnSpc>
                <a:spcPct val="90000"/>
              </a:lnSpc>
              <a:spcBef>
                <a:spcPts val="1000"/>
              </a:spcBef>
              <a:buSzPct val="80000"/>
              <a:buNone/>
            </a:pPr>
            <a:r>
              <a:rPr lang="en-US" sz="3600" dirty="0"/>
              <a:t>The dataset includes operational and performance information from a call center, providing detailed insights into customer conversations, agent tasks, service results, and earnings from various ways people </a:t>
            </a:r>
            <a:r>
              <a:rPr lang="en-US" sz="3600" dirty="0" err="1"/>
              <a:t>communicate.It</a:t>
            </a:r>
            <a:r>
              <a:rPr lang="en-US" sz="3600" dirty="0"/>
              <a:t> covers the following records:</a:t>
            </a:r>
          </a:p>
          <a:p>
            <a:pPr marL="0" lvl="0" indent="0" defTabSz="457200">
              <a:lnSpc>
                <a:spcPct val="90000"/>
              </a:lnSpc>
              <a:spcBef>
                <a:spcPts val="1000"/>
              </a:spcBef>
              <a:buSzPct val="80000"/>
              <a:buFont typeface="Wingdings 3" charset="2"/>
              <a:buChar char=""/>
            </a:pPr>
            <a:r>
              <a:rPr lang="en-US" sz="3600" b="1" dirty="0"/>
              <a:t>Customer Interactions</a:t>
            </a:r>
            <a:r>
              <a:rPr lang="en-US" sz="3600" dirty="0"/>
              <a:t> – the total number of conversations handled through phone calls, chat sessions, and other service types.</a:t>
            </a:r>
          </a:p>
          <a:p>
            <a:pPr marL="0" lvl="0" indent="0" defTabSz="457200">
              <a:lnSpc>
                <a:spcPct val="90000"/>
              </a:lnSpc>
              <a:spcBef>
                <a:spcPts val="1000"/>
              </a:spcBef>
              <a:buSzPct val="80000"/>
              <a:buFont typeface="Wingdings 3" charset="2"/>
              <a:buChar char=""/>
            </a:pPr>
            <a:r>
              <a:rPr lang="en-US" sz="3600" b="1" dirty="0"/>
              <a:t>Agent Performance </a:t>
            </a:r>
            <a:r>
              <a:rPr lang="en-US" sz="3600" dirty="0"/>
              <a:t>– the number of interactions each agent managed, how long calls and chats lasted, and how satisfied customers were with the service.</a:t>
            </a:r>
          </a:p>
          <a:p>
            <a:pPr marL="0" lvl="0" indent="0" defTabSz="457200">
              <a:lnSpc>
                <a:spcPct val="90000"/>
              </a:lnSpc>
              <a:spcBef>
                <a:spcPts val="1000"/>
              </a:spcBef>
              <a:buSzPct val="80000"/>
              <a:buFont typeface="Wingdings 3" charset="2"/>
              <a:buChar char=""/>
            </a:pPr>
            <a:r>
              <a:rPr lang="en-US" sz="3600" b="1" dirty="0"/>
              <a:t>Operational Metrics</a:t>
            </a:r>
            <a:r>
              <a:rPr lang="en-US" sz="3600" dirty="0"/>
              <a:t> – how many calls were received each hour, the status of agents (like busy, done, failed, or no answer), and how well calls were completed.</a:t>
            </a:r>
          </a:p>
          <a:p>
            <a:pPr marL="0" lvl="0" indent="0" defTabSz="457200">
              <a:lnSpc>
                <a:spcPct val="90000"/>
              </a:lnSpc>
              <a:spcBef>
                <a:spcPts val="1000"/>
              </a:spcBef>
              <a:buSzPct val="80000"/>
              <a:buFont typeface="Wingdings 3" charset="2"/>
              <a:buChar char=""/>
            </a:pPr>
            <a:r>
              <a:rPr lang="en-US" sz="3600" b="1" dirty="0"/>
              <a:t>Customer Experience Indicators</a:t>
            </a:r>
            <a:r>
              <a:rPr lang="en-US" sz="3600" dirty="0"/>
              <a:t> – average satisfaction scores and whether issues were resolved during the first call, which helps measure service quality.</a:t>
            </a:r>
          </a:p>
          <a:p>
            <a:pPr marL="0" lvl="0" indent="0" defTabSz="457200">
              <a:lnSpc>
                <a:spcPct val="90000"/>
              </a:lnSpc>
              <a:spcBef>
                <a:spcPts val="1000"/>
              </a:spcBef>
              <a:buSzPct val="80000"/>
              <a:buFont typeface="Wingdings 3" charset="2"/>
              <a:buChar char=""/>
            </a:pPr>
            <a:r>
              <a:rPr lang="en-US" sz="3600" b="1" dirty="0"/>
              <a:t>Revenue Data</a:t>
            </a:r>
            <a:r>
              <a:rPr lang="en-US" sz="3600" dirty="0"/>
              <a:t> – the total income from different types of customer interactions and through various platforms like apps, dashboards, and websites.</a:t>
            </a:r>
          </a:p>
          <a:p>
            <a:pPr marL="0" lvl="0" indent="0" defTabSz="457200">
              <a:lnSpc>
                <a:spcPct val="90000"/>
              </a:lnSpc>
              <a:spcBef>
                <a:spcPts val="1000"/>
              </a:spcBef>
              <a:buSzPct val="80000"/>
              <a:buFont typeface="Wingdings 3" charset="2"/>
              <a:buChar char=""/>
            </a:pPr>
            <a:r>
              <a:rPr lang="en-US" sz="3600" b="1" dirty="0"/>
              <a:t>Time-Based Information</a:t>
            </a:r>
            <a:r>
              <a:rPr lang="en-US" sz="3600" dirty="0"/>
              <a:t> – dates, hours, months, and daily trends that help analyze workloads and busy times.</a:t>
            </a:r>
          </a:p>
          <a:p>
            <a:pPr marL="0" lvl="0" indent="0" defTabSz="457200">
              <a:lnSpc>
                <a:spcPct val="90000"/>
              </a:lnSpc>
              <a:spcBef>
                <a:spcPts val="1000"/>
              </a:spcBef>
              <a:buSzPct val="80000"/>
              <a:buNone/>
            </a:pPr>
            <a:r>
              <a:rPr lang="en-US" sz="3600" dirty="0"/>
              <a:t>Overall, this dataset allows for analyzing the efficiency of the call center, how agents' workloads are spread, trends in customer satisfaction, any problems in operations, and how well revenue is </a:t>
            </a:r>
            <a:r>
              <a:rPr lang="en-US" sz="3600" dirty="0" err="1"/>
              <a:t>performing.It</a:t>
            </a:r>
            <a:r>
              <a:rPr lang="en-US" sz="3600" dirty="0"/>
              <a:t> helps management make better decisions about hiring, improving processes, and investing in technology.</a:t>
            </a:r>
          </a:p>
          <a:p>
            <a:pPr marL="0" lvl="0" indent="0" defTabSz="457200">
              <a:lnSpc>
                <a:spcPct val="90000"/>
              </a:lnSpc>
              <a:spcBef>
                <a:spcPts val="1000"/>
              </a:spcBef>
              <a:buSzPct val="80000"/>
              <a:buFont typeface="Wingdings 3" charset="2"/>
              <a:buChar char=""/>
            </a:pPr>
            <a:endParaRPr lang="en-US" sz="500" dirty="0"/>
          </a:p>
          <a:p>
            <a:pPr marL="0" lvl="0" indent="0" defTabSz="457200">
              <a:lnSpc>
                <a:spcPct val="90000"/>
              </a:lnSpc>
              <a:spcBef>
                <a:spcPts val="1000"/>
              </a:spcBef>
              <a:buSzPct val="80000"/>
              <a:buFont typeface="Wingdings 3" charset="2"/>
              <a:buChar char=""/>
            </a:pPr>
            <a:endParaRPr lang="en-US" sz="500" dirty="0"/>
          </a:p>
          <a:p>
            <a:pPr marL="0" lvl="0" indent="0" defTabSz="457200">
              <a:lnSpc>
                <a:spcPct val="90000"/>
              </a:lnSpc>
              <a:spcBef>
                <a:spcPts val="1000"/>
              </a:spcBef>
              <a:buSzPct val="80000"/>
              <a:buFont typeface="Wingdings 3" charset="2"/>
              <a:buChar char=""/>
            </a:pPr>
            <a:endParaRPr lang="en-US" sz="500" dirty="0"/>
          </a:p>
          <a:p>
            <a:pPr marL="0" lvl="0" indent="0" defTabSz="457200">
              <a:lnSpc>
                <a:spcPct val="90000"/>
              </a:lnSpc>
              <a:spcBef>
                <a:spcPts val="1000"/>
              </a:spcBef>
              <a:buSzPct val="80000"/>
              <a:buFont typeface="Wingdings 3" charset="2"/>
              <a:buChar char=""/>
            </a:pPr>
            <a:endParaRPr lang="en-US" sz="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a:off x="454300" y="172576"/>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GB" sz="2800" dirty="0"/>
              <a:t>METHODOLOGY</a:t>
            </a:r>
          </a:p>
        </p:txBody>
      </p:sp>
      <p:sp>
        <p:nvSpPr>
          <p:cNvPr id="80" name="Google Shape;80;p17"/>
          <p:cNvSpPr txBox="1">
            <a:spLocks noGrp="1"/>
          </p:cNvSpPr>
          <p:nvPr>
            <p:ph type="body" idx="1"/>
          </p:nvPr>
        </p:nvSpPr>
        <p:spPr>
          <a:xfrm>
            <a:off x="454300" y="870257"/>
            <a:ext cx="7589268" cy="35538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050" dirty="0"/>
              <a:t>1</a:t>
            </a:r>
            <a:r>
              <a:rPr lang="en-US" sz="900" dirty="0"/>
              <a:t>.</a:t>
            </a:r>
            <a:r>
              <a:rPr lang="en-US" sz="900" b="1" dirty="0"/>
              <a:t>Data Cleaning</a:t>
            </a:r>
            <a:r>
              <a:rPr lang="en-US" sz="900" dirty="0"/>
              <a:t>: Checked the dataset to find any missing or mixed-up data, we also made sure the dates and times were in the right format so they could be used for calculations. A few abnormal formatting issues were taken care to keep the data accurate. A few functions like TRIM,PROPER,VALUE,IF,SUBSTITUTE,DATE were used to clean the data.</a:t>
            </a:r>
          </a:p>
          <a:p>
            <a:pPr marL="0" lvl="0" indent="0" algn="l" rtl="0">
              <a:spcBef>
                <a:spcPts val="1200"/>
              </a:spcBef>
              <a:spcAft>
                <a:spcPts val="0"/>
              </a:spcAft>
              <a:buNone/>
            </a:pPr>
            <a:r>
              <a:rPr lang="en-US" sz="900" dirty="0"/>
              <a:t>2.</a:t>
            </a:r>
            <a:r>
              <a:rPr lang="en-US" sz="900" b="1" dirty="0"/>
              <a:t>Data Preparation &amp; Enrichment:</a:t>
            </a:r>
            <a:r>
              <a:rPr lang="en-US" sz="900" dirty="0"/>
              <a:t> Extracted useful information from the existing data to help with the </a:t>
            </a:r>
            <a:r>
              <a:rPr lang="en-US" sz="900" dirty="0" err="1"/>
              <a:t>analysis.A</a:t>
            </a:r>
            <a:r>
              <a:rPr lang="en-US" sz="900" dirty="0"/>
              <a:t> few new fields were introduced when needed to make comparisons and reports easier. Data was sorted into clear groups so it would be easier to look through and assess. LOOKUP functions were used in certain instances when necessary. A few tweaks were made to fields like guru name, call length and satisfaction scores so they were ready for use in analysis.</a:t>
            </a:r>
          </a:p>
          <a:p>
            <a:pPr marL="0" lvl="0" indent="0" algn="l" rtl="0">
              <a:spcBef>
                <a:spcPts val="1200"/>
              </a:spcBef>
              <a:spcAft>
                <a:spcPts val="0"/>
              </a:spcAft>
              <a:buNone/>
            </a:pPr>
            <a:r>
              <a:rPr lang="en-US" sz="900" dirty="0"/>
              <a:t>3.</a:t>
            </a:r>
            <a:r>
              <a:rPr lang="en-US" sz="900" b="1" dirty="0"/>
              <a:t>Analytical Techniques used</a:t>
            </a:r>
            <a:r>
              <a:rPr lang="en-US" sz="900" dirty="0"/>
              <a:t>: </a:t>
            </a:r>
          </a:p>
          <a:p>
            <a:pPr marL="0" lvl="0" indent="0" algn="l" rtl="0">
              <a:lnSpc>
                <a:spcPct val="100000"/>
              </a:lnSpc>
              <a:spcBef>
                <a:spcPts val="1200"/>
              </a:spcBef>
              <a:spcAft>
                <a:spcPts val="0"/>
              </a:spcAft>
              <a:buNone/>
            </a:pPr>
            <a:r>
              <a:rPr lang="en-US" sz="900" i="1" dirty="0"/>
              <a:t>Descriptive Analysis:</a:t>
            </a:r>
            <a:r>
              <a:rPr lang="en-US" sz="900" dirty="0"/>
              <a:t> calculated average scores and summaries to get an idea of how customer satisfaction was performing overall.</a:t>
            </a:r>
          </a:p>
          <a:p>
            <a:pPr marL="0" lvl="0" indent="0" algn="l" rtl="0">
              <a:lnSpc>
                <a:spcPct val="100000"/>
              </a:lnSpc>
              <a:spcBef>
                <a:spcPts val="1200"/>
              </a:spcBef>
              <a:spcAft>
                <a:spcPts val="0"/>
              </a:spcAft>
              <a:buNone/>
            </a:pPr>
            <a:r>
              <a:rPr lang="en-US" sz="900" i="1" dirty="0"/>
              <a:t>Comparative Analysis:</a:t>
            </a:r>
            <a:r>
              <a:rPr lang="en-US" sz="900" dirty="0"/>
              <a:t>  compared customer satisfaction scores between different gurus to find out who was doing best and who was doing worst.</a:t>
            </a:r>
          </a:p>
          <a:p>
            <a:pPr marL="0" lvl="0" indent="0" algn="l" rtl="0">
              <a:lnSpc>
                <a:spcPct val="100000"/>
              </a:lnSpc>
              <a:spcBef>
                <a:spcPts val="1200"/>
              </a:spcBef>
              <a:spcAft>
                <a:spcPts val="0"/>
              </a:spcAft>
              <a:buNone/>
            </a:pPr>
            <a:r>
              <a:rPr lang="en-US" sz="900" i="1" dirty="0"/>
              <a:t>Correlation Insight</a:t>
            </a:r>
            <a:r>
              <a:rPr lang="en-US" sz="900" dirty="0"/>
              <a:t>: looked at how call length related to customer satisfaction levels.</a:t>
            </a:r>
          </a:p>
          <a:p>
            <a:pPr marL="0" lvl="0" indent="0" algn="l" rtl="0">
              <a:spcBef>
                <a:spcPts val="1200"/>
              </a:spcBef>
              <a:spcAft>
                <a:spcPts val="0"/>
              </a:spcAft>
              <a:buNone/>
            </a:pPr>
            <a:r>
              <a:rPr lang="en-US" sz="900" dirty="0"/>
              <a:t>4.</a:t>
            </a:r>
            <a:r>
              <a:rPr lang="en-US" sz="900" b="1" dirty="0"/>
              <a:t>Tools &amp; Spreadsheet Features</a:t>
            </a:r>
            <a:r>
              <a:rPr lang="en-US" sz="900" dirty="0"/>
              <a:t> : Every analytical insight was done through plotting pivot tables and a chart wherever necessary respectively to support the same. Sorting and filtering of the data was done according to our need for different queries. Major repetitive functions used were AVERAGE,COUNT and for </a:t>
            </a:r>
            <a:r>
              <a:rPr lang="en-US" sz="900" dirty="0" err="1"/>
              <a:t>visualisation</a:t>
            </a:r>
            <a:r>
              <a:rPr lang="en-US" sz="900" dirty="0"/>
              <a:t> there were multiple charts being plotted to help explain trends and comparisons.</a:t>
            </a:r>
          </a:p>
          <a:p>
            <a:pPr marL="0" lvl="0" indent="0" algn="l" rtl="0">
              <a:spcBef>
                <a:spcPts val="1200"/>
              </a:spcBef>
              <a:spcAft>
                <a:spcPts val="0"/>
              </a:spcAft>
              <a:buNone/>
            </a:pPr>
            <a:r>
              <a:rPr lang="en-US" sz="900" dirty="0"/>
              <a:t>5.</a:t>
            </a:r>
            <a:r>
              <a:rPr lang="en-US" sz="900" b="1" dirty="0"/>
              <a:t> Interpretation and reporting</a:t>
            </a:r>
            <a:r>
              <a:rPr lang="en-US" sz="900" dirty="0"/>
              <a:t> : </a:t>
            </a:r>
            <a:r>
              <a:rPr lang="en-US" sz="900" dirty="0" err="1"/>
              <a:t>Summarised</a:t>
            </a:r>
            <a:r>
              <a:rPr lang="en-US" sz="900" dirty="0"/>
              <a:t> numbers and the plotted charts helped us in interpretation phase and to also conclude a few insights obtained from the data. Findings were clearly presented to highlight performance differences and highlight key insights.</a:t>
            </a:r>
          </a:p>
          <a:p>
            <a:pPr marL="0" lvl="0" indent="0" algn="l" rtl="0">
              <a:spcBef>
                <a:spcPts val="1200"/>
              </a:spcBef>
              <a:spcAft>
                <a:spcPts val="0"/>
              </a:spcAft>
              <a:buNone/>
            </a:pPr>
            <a:endParaRPr lang="en-US" sz="1050" dirty="0"/>
          </a:p>
          <a:p>
            <a:pPr marL="0" lvl="0" indent="0" algn="l" rtl="0">
              <a:spcBef>
                <a:spcPts val="1200"/>
              </a:spcBef>
              <a:spcAft>
                <a:spcPts val="0"/>
              </a:spcAft>
              <a:buNone/>
            </a:pPr>
            <a:endParaRPr lang="en-US" sz="1050" dirty="0"/>
          </a:p>
          <a:p>
            <a:pPr marL="0" lvl="0" indent="0" algn="l" rtl="0">
              <a:spcBef>
                <a:spcPts val="1200"/>
              </a:spcBef>
              <a:spcAft>
                <a:spcPts val="0"/>
              </a:spcAft>
              <a:buClr>
                <a:schemeClr val="dk1"/>
              </a:buClr>
              <a:buSzPct val="137500"/>
              <a:buFont typeface="Arial"/>
              <a:buNone/>
            </a:pPr>
            <a:endParaRPr lang="en-US" sz="1050" dirty="0"/>
          </a:p>
          <a:p>
            <a:pPr marL="0" lvl="0" indent="0" algn="l" rtl="0">
              <a:spcBef>
                <a:spcPts val="1200"/>
              </a:spcBef>
              <a:spcAft>
                <a:spcPts val="1200"/>
              </a:spcAft>
              <a:buNone/>
            </a:pP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8"/>
          <p:cNvSpPr txBox="1">
            <a:spLocks noGrp="1"/>
          </p:cNvSpPr>
          <p:nvPr>
            <p:ph type="title"/>
          </p:nvPr>
        </p:nvSpPr>
        <p:spPr>
          <a:xfrm>
            <a:off x="692700" y="511700"/>
            <a:ext cx="8520600" cy="7860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sz="3100" dirty="0"/>
              <a:t>INSIGHT</a:t>
            </a:r>
          </a:p>
          <a:p>
            <a:pPr marL="0" lvl="0" indent="0" algn="l" rtl="0">
              <a:spcBef>
                <a:spcPts val="0"/>
              </a:spcBef>
              <a:spcAft>
                <a:spcPts val="0"/>
              </a:spcAft>
              <a:buNone/>
            </a:pPr>
            <a:r>
              <a:rPr lang="en-US" sz="1388" dirty="0">
                <a:latin typeface="Georgia"/>
                <a:ea typeface="Georgia"/>
                <a:cs typeface="Georgia"/>
                <a:sym typeface="Georgia"/>
              </a:rPr>
              <a:t>Average customer ratings for Gurus</a:t>
            </a:r>
          </a:p>
        </p:txBody>
      </p:sp>
      <p:graphicFrame>
        <p:nvGraphicFramePr>
          <p:cNvPr id="2" name="Diagram 1">
            <a:extLst>
              <a:ext uri="{FF2B5EF4-FFF2-40B4-BE49-F238E27FC236}">
                <a16:creationId xmlns:a16="http://schemas.microsoft.com/office/drawing/2014/main" id="{71343BD8-6377-7531-75D9-6450A2676569}"/>
              </a:ext>
            </a:extLst>
          </p:cNvPr>
          <p:cNvGraphicFramePr/>
          <p:nvPr>
            <p:extLst>
              <p:ext uri="{D42A27DB-BD31-4B8C-83A1-F6EECF244321}">
                <p14:modId xmlns:p14="http://schemas.microsoft.com/office/powerpoint/2010/main" val="3154216775"/>
              </p:ext>
            </p:extLst>
          </p:nvPr>
        </p:nvGraphicFramePr>
        <p:xfrm>
          <a:off x="154775" y="1395475"/>
          <a:ext cx="4260300" cy="3416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0" name="Picture 9">
            <a:extLst>
              <a:ext uri="{FF2B5EF4-FFF2-40B4-BE49-F238E27FC236}">
                <a16:creationId xmlns:a16="http://schemas.microsoft.com/office/drawing/2014/main" id="{5BACABA2-68A4-7BAD-89E1-98D7485E4EE3}"/>
              </a:ext>
            </a:extLst>
          </p:cNvPr>
          <p:cNvPicPr>
            <a:picLocks noChangeAspect="1"/>
          </p:cNvPicPr>
          <p:nvPr/>
        </p:nvPicPr>
        <p:blipFill>
          <a:blip r:embed="rId8"/>
          <a:stretch>
            <a:fillRect/>
          </a:stretch>
        </p:blipFill>
        <p:spPr>
          <a:xfrm>
            <a:off x="4635177" y="1905278"/>
            <a:ext cx="4226190" cy="2334214"/>
          </a:xfrm>
          <a:prstGeom prst="rect">
            <a:avLst/>
          </a:prstGeom>
          <a:ln>
            <a:solidFill>
              <a:schemeClr val="accent1">
                <a:lumMod val="40000"/>
                <a:lumOff val="60000"/>
              </a:schemeClr>
            </a:solid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20"/>
          <p:cNvSpPr txBox="1">
            <a:spLocks noGrp="1"/>
          </p:cNvSpPr>
          <p:nvPr>
            <p:ph type="title"/>
          </p:nvPr>
        </p:nvSpPr>
        <p:spPr>
          <a:xfrm>
            <a:off x="470445" y="230867"/>
            <a:ext cx="8520600" cy="873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US" sz="2800" dirty="0"/>
              <a:t>INSIGHT</a:t>
            </a:r>
          </a:p>
          <a:p>
            <a:pPr marL="0" lvl="0" indent="0" algn="l" rtl="0">
              <a:spcBef>
                <a:spcPts val="0"/>
              </a:spcBef>
              <a:spcAft>
                <a:spcPts val="0"/>
              </a:spcAft>
              <a:buClr>
                <a:schemeClr val="dk1"/>
              </a:buClr>
              <a:buSzPts val="1100"/>
              <a:buFont typeface="Arial"/>
              <a:buNone/>
            </a:pPr>
            <a:r>
              <a:rPr lang="en-US" sz="1300" dirty="0">
                <a:latin typeface="Georgia"/>
                <a:ea typeface="Georgia"/>
                <a:cs typeface="Georgia"/>
                <a:sym typeface="Georgia"/>
              </a:rPr>
              <a:t>Amount generated through each category</a:t>
            </a:r>
          </a:p>
        </p:txBody>
      </p:sp>
      <p:graphicFrame>
        <p:nvGraphicFramePr>
          <p:cNvPr id="2" name="Diagram 1">
            <a:extLst>
              <a:ext uri="{FF2B5EF4-FFF2-40B4-BE49-F238E27FC236}">
                <a16:creationId xmlns:a16="http://schemas.microsoft.com/office/drawing/2014/main" id="{D23FD9EA-2C7E-70B7-C313-96A9CB752624}"/>
              </a:ext>
            </a:extLst>
          </p:cNvPr>
          <p:cNvGraphicFramePr/>
          <p:nvPr>
            <p:extLst>
              <p:ext uri="{D42A27DB-BD31-4B8C-83A1-F6EECF244321}">
                <p14:modId xmlns:p14="http://schemas.microsoft.com/office/powerpoint/2010/main" val="2108132051"/>
              </p:ext>
            </p:extLst>
          </p:nvPr>
        </p:nvGraphicFramePr>
        <p:xfrm>
          <a:off x="2227732" y="1423375"/>
          <a:ext cx="4402500" cy="34173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4">
            <a:extLst>
              <a:ext uri="{FF2B5EF4-FFF2-40B4-BE49-F238E27FC236}">
                <a16:creationId xmlns:a16="http://schemas.microsoft.com/office/drawing/2014/main" id="{48B76506-75BD-CBBB-18DC-35A57AE40105}"/>
              </a:ext>
            </a:extLst>
          </p:cNvPr>
          <p:cNvPicPr>
            <a:picLocks noChangeAspect="1"/>
          </p:cNvPicPr>
          <p:nvPr/>
        </p:nvPicPr>
        <p:blipFill>
          <a:blip r:embed="rId8"/>
          <a:stretch>
            <a:fillRect/>
          </a:stretch>
        </p:blipFill>
        <p:spPr>
          <a:xfrm>
            <a:off x="4007595" y="1790963"/>
            <a:ext cx="2407194" cy="1762298"/>
          </a:xfrm>
          <a:prstGeom prst="rect">
            <a:avLst/>
          </a:prstGeom>
          <a:ln>
            <a:solidFill>
              <a:schemeClr val="accent1">
                <a:lumMod val="40000"/>
                <a:lumOff val="60000"/>
              </a:schemeClr>
            </a:solid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0AE81681-790D-2B2B-B428-DBA601CF9C2F}"/>
            </a:ext>
          </a:extLst>
        </p:cNvPr>
        <p:cNvGrpSpPr/>
        <p:nvPr/>
      </p:nvGrpSpPr>
      <p:grpSpPr>
        <a:xfrm>
          <a:off x="0" y="0"/>
          <a:ext cx="0" cy="0"/>
          <a:chOff x="0" y="0"/>
          <a:chExt cx="0" cy="0"/>
        </a:xfrm>
      </p:grpSpPr>
      <p:sp>
        <p:nvSpPr>
          <p:cNvPr id="115" name="Google Shape;115;p22">
            <a:extLst>
              <a:ext uri="{FF2B5EF4-FFF2-40B4-BE49-F238E27FC236}">
                <a16:creationId xmlns:a16="http://schemas.microsoft.com/office/drawing/2014/main" id="{2082DB7D-733B-6CD7-BCD7-8EB57881FA22}"/>
              </a:ext>
            </a:extLst>
          </p:cNvPr>
          <p:cNvSpPr txBox="1">
            <a:spLocks noGrp="1"/>
          </p:cNvSpPr>
          <p:nvPr>
            <p:ph type="title"/>
          </p:nvPr>
        </p:nvSpPr>
        <p:spPr>
          <a:xfrm>
            <a:off x="721275" y="501600"/>
            <a:ext cx="3699600" cy="7557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GB" sz="2100" dirty="0"/>
              <a:t>INSIGHTS</a:t>
            </a:r>
            <a:endParaRPr sz="2100" dirty="0"/>
          </a:p>
          <a:p>
            <a:pPr marL="0" lvl="0" indent="0" algn="l" rtl="0">
              <a:spcBef>
                <a:spcPts val="0"/>
              </a:spcBef>
              <a:spcAft>
                <a:spcPts val="0"/>
              </a:spcAft>
              <a:buClr>
                <a:schemeClr val="dk1"/>
              </a:buClr>
              <a:buSzPts val="1100"/>
              <a:buFont typeface="Arial"/>
              <a:buNone/>
            </a:pPr>
            <a:r>
              <a:rPr lang="en-GB" sz="1200" dirty="0">
                <a:ea typeface="Georgia"/>
                <a:cs typeface="Georgia"/>
                <a:sym typeface="Georgia"/>
              </a:rPr>
              <a:t>Website performance and reliability</a:t>
            </a:r>
            <a:endParaRPr sz="1200" dirty="0">
              <a:ea typeface="Georgia"/>
              <a:cs typeface="Georgia"/>
              <a:sym typeface="Georgia"/>
            </a:endParaRPr>
          </a:p>
        </p:txBody>
      </p:sp>
      <p:graphicFrame>
        <p:nvGraphicFramePr>
          <p:cNvPr id="3" name="Diagram 2">
            <a:extLst>
              <a:ext uri="{FF2B5EF4-FFF2-40B4-BE49-F238E27FC236}">
                <a16:creationId xmlns:a16="http://schemas.microsoft.com/office/drawing/2014/main" id="{7B8C3993-7765-2E88-E25A-EDF5B0B40DF9}"/>
              </a:ext>
            </a:extLst>
          </p:cNvPr>
          <p:cNvGraphicFramePr/>
          <p:nvPr>
            <p:extLst>
              <p:ext uri="{D42A27DB-BD31-4B8C-83A1-F6EECF244321}">
                <p14:modId xmlns:p14="http://schemas.microsoft.com/office/powerpoint/2010/main" val="677042146"/>
              </p:ext>
            </p:extLst>
          </p:nvPr>
        </p:nvGraphicFramePr>
        <p:xfrm>
          <a:off x="152954" y="1369937"/>
          <a:ext cx="4634146" cy="35391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Picture 5">
            <a:extLst>
              <a:ext uri="{FF2B5EF4-FFF2-40B4-BE49-F238E27FC236}">
                <a16:creationId xmlns:a16="http://schemas.microsoft.com/office/drawing/2014/main" id="{E51A0C62-2ADD-B08A-BE77-40338A8E0750}"/>
              </a:ext>
            </a:extLst>
          </p:cNvPr>
          <p:cNvPicPr>
            <a:picLocks noChangeAspect="1"/>
          </p:cNvPicPr>
          <p:nvPr/>
        </p:nvPicPr>
        <p:blipFill>
          <a:blip r:embed="rId8"/>
          <a:stretch>
            <a:fillRect/>
          </a:stretch>
        </p:blipFill>
        <p:spPr>
          <a:xfrm>
            <a:off x="5000936" y="688294"/>
            <a:ext cx="3198737" cy="1788810"/>
          </a:xfrm>
          <a:prstGeom prst="rect">
            <a:avLst/>
          </a:prstGeom>
          <a:ln>
            <a:solidFill>
              <a:schemeClr val="accent1">
                <a:lumMod val="40000"/>
                <a:lumOff val="60000"/>
              </a:schemeClr>
            </a:solidFill>
          </a:ln>
        </p:spPr>
      </p:pic>
      <p:pic>
        <p:nvPicPr>
          <p:cNvPr id="8" name="Picture 7">
            <a:extLst>
              <a:ext uri="{FF2B5EF4-FFF2-40B4-BE49-F238E27FC236}">
                <a16:creationId xmlns:a16="http://schemas.microsoft.com/office/drawing/2014/main" id="{B29CFBB7-3964-8838-0124-74926EB193FD}"/>
              </a:ext>
            </a:extLst>
          </p:cNvPr>
          <p:cNvPicPr>
            <a:picLocks noChangeAspect="1"/>
          </p:cNvPicPr>
          <p:nvPr/>
        </p:nvPicPr>
        <p:blipFill>
          <a:blip r:embed="rId9"/>
          <a:stretch>
            <a:fillRect/>
          </a:stretch>
        </p:blipFill>
        <p:spPr>
          <a:xfrm>
            <a:off x="5000937" y="2809701"/>
            <a:ext cx="3241963" cy="1838775"/>
          </a:xfrm>
          <a:prstGeom prst="rect">
            <a:avLst/>
          </a:prstGeom>
          <a:ln>
            <a:solidFill>
              <a:schemeClr val="accent1">
                <a:lumMod val="40000"/>
                <a:lumOff val="60000"/>
              </a:schemeClr>
            </a:solidFill>
          </a:ln>
        </p:spPr>
      </p:pic>
    </p:spTree>
    <p:extLst>
      <p:ext uri="{BB962C8B-B14F-4D97-AF65-F5344CB8AC3E}">
        <p14:creationId xmlns:p14="http://schemas.microsoft.com/office/powerpoint/2010/main" val="19532741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3"/>
          <p:cNvSpPr txBox="1">
            <a:spLocks noGrp="1"/>
          </p:cNvSpPr>
          <p:nvPr>
            <p:ph type="title"/>
          </p:nvPr>
        </p:nvSpPr>
        <p:spPr>
          <a:xfrm>
            <a:off x="349500" y="344675"/>
            <a:ext cx="4222500" cy="755700"/>
          </a:xfrm>
          <a:prstGeom prst="rect">
            <a:avLst/>
          </a:prstGeom>
        </p:spPr>
        <p:txBody>
          <a:bodyPr spcFirstLastPara="1" wrap="square" lIns="91425" tIns="91425" rIns="91425" bIns="91425" anchor="b" anchorCtr="0">
            <a:normAutofit fontScale="90000"/>
          </a:bodyPr>
          <a:lstStyle/>
          <a:p>
            <a:pPr marL="0" lvl="0" indent="0" algn="l" rtl="0">
              <a:spcBef>
                <a:spcPts val="0"/>
              </a:spcBef>
              <a:spcAft>
                <a:spcPts val="0"/>
              </a:spcAft>
              <a:buNone/>
            </a:pPr>
            <a:r>
              <a:rPr lang="en-GB" sz="3100" dirty="0"/>
              <a:t>INSIGHT</a:t>
            </a:r>
            <a:endParaRPr sz="3100" dirty="0"/>
          </a:p>
          <a:p>
            <a:pPr marL="0" lvl="0" indent="0" algn="l" rtl="0">
              <a:spcBef>
                <a:spcPts val="0"/>
              </a:spcBef>
              <a:spcAft>
                <a:spcPts val="0"/>
              </a:spcAft>
              <a:buClr>
                <a:schemeClr val="dk1"/>
              </a:buClr>
              <a:buSzPts val="1100"/>
              <a:buFont typeface="Arial"/>
              <a:buNone/>
            </a:pPr>
            <a:r>
              <a:rPr lang="en-GB" sz="1333" dirty="0">
                <a:ea typeface="Georgia"/>
                <a:cs typeface="Georgia"/>
                <a:sym typeface="Georgia"/>
              </a:rPr>
              <a:t>Hourly basis volume</a:t>
            </a:r>
            <a:endParaRPr sz="1333" dirty="0">
              <a:ea typeface="Georgia"/>
              <a:cs typeface="Georgia"/>
              <a:sym typeface="Georgia"/>
            </a:endParaRPr>
          </a:p>
        </p:txBody>
      </p:sp>
      <p:graphicFrame>
        <p:nvGraphicFramePr>
          <p:cNvPr id="2" name="Diagram 1">
            <a:extLst>
              <a:ext uri="{FF2B5EF4-FFF2-40B4-BE49-F238E27FC236}">
                <a16:creationId xmlns:a16="http://schemas.microsoft.com/office/drawing/2014/main" id="{DE70F495-5A57-63B2-9934-A55CE516F4D0}"/>
              </a:ext>
            </a:extLst>
          </p:cNvPr>
          <p:cNvGraphicFramePr/>
          <p:nvPr>
            <p:extLst>
              <p:ext uri="{D42A27DB-BD31-4B8C-83A1-F6EECF244321}">
                <p14:modId xmlns:p14="http://schemas.microsoft.com/office/powerpoint/2010/main" val="741752376"/>
              </p:ext>
            </p:extLst>
          </p:nvPr>
        </p:nvGraphicFramePr>
        <p:xfrm>
          <a:off x="113053" y="1100373"/>
          <a:ext cx="4099837" cy="34686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4">
            <a:extLst>
              <a:ext uri="{FF2B5EF4-FFF2-40B4-BE49-F238E27FC236}">
                <a16:creationId xmlns:a16="http://schemas.microsoft.com/office/drawing/2014/main" id="{7BD69BDF-C5E1-2C62-8B92-B580E9F54982}"/>
              </a:ext>
            </a:extLst>
          </p:cNvPr>
          <p:cNvPicPr>
            <a:picLocks noChangeAspect="1"/>
          </p:cNvPicPr>
          <p:nvPr/>
        </p:nvPicPr>
        <p:blipFill>
          <a:blip r:embed="rId8"/>
          <a:stretch>
            <a:fillRect/>
          </a:stretch>
        </p:blipFill>
        <p:spPr>
          <a:xfrm>
            <a:off x="4572000" y="1746373"/>
            <a:ext cx="4187043" cy="2146261"/>
          </a:xfrm>
          <a:prstGeom prst="rect">
            <a:avLst/>
          </a:prstGeom>
          <a:ln>
            <a:solidFill>
              <a:schemeClr val="accent1">
                <a:lumMod val="40000"/>
                <a:lumOff val="60000"/>
              </a:schemeClr>
            </a:solid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3B3E8-84A0-5FF7-DBC5-EBDE1182B457}"/>
              </a:ext>
            </a:extLst>
          </p:cNvPr>
          <p:cNvSpPr>
            <a:spLocks noGrp="1"/>
          </p:cNvSpPr>
          <p:nvPr>
            <p:ph type="title"/>
          </p:nvPr>
        </p:nvSpPr>
        <p:spPr>
          <a:xfrm>
            <a:off x="311700" y="555600"/>
            <a:ext cx="3522474" cy="755700"/>
          </a:xfrm>
        </p:spPr>
        <p:txBody>
          <a:bodyPr>
            <a:normAutofit fontScale="90000"/>
          </a:bodyPr>
          <a:lstStyle/>
          <a:p>
            <a:r>
              <a:rPr lang="en-IN" sz="3100" dirty="0"/>
              <a:t>INSIGHT</a:t>
            </a:r>
            <a:br>
              <a:rPr lang="en-IN" dirty="0"/>
            </a:br>
            <a:r>
              <a:rPr lang="en-IN" sz="1300" dirty="0"/>
              <a:t>Platform performance</a:t>
            </a:r>
          </a:p>
        </p:txBody>
      </p:sp>
      <p:graphicFrame>
        <p:nvGraphicFramePr>
          <p:cNvPr id="6" name="Diagram 5">
            <a:extLst>
              <a:ext uri="{FF2B5EF4-FFF2-40B4-BE49-F238E27FC236}">
                <a16:creationId xmlns:a16="http://schemas.microsoft.com/office/drawing/2014/main" id="{9E079734-875E-19CF-BBF1-3205A290BCA5}"/>
              </a:ext>
            </a:extLst>
          </p:cNvPr>
          <p:cNvGraphicFramePr/>
          <p:nvPr>
            <p:extLst>
              <p:ext uri="{D42A27DB-BD31-4B8C-83A1-F6EECF244321}">
                <p14:modId xmlns:p14="http://schemas.microsoft.com/office/powerpoint/2010/main" val="2354361623"/>
              </p:ext>
            </p:extLst>
          </p:nvPr>
        </p:nvGraphicFramePr>
        <p:xfrm>
          <a:off x="311699" y="1389600"/>
          <a:ext cx="3691709" cy="3179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a:extLst>
              <a:ext uri="{FF2B5EF4-FFF2-40B4-BE49-F238E27FC236}">
                <a16:creationId xmlns:a16="http://schemas.microsoft.com/office/drawing/2014/main" id="{AADC757D-11F0-9CC8-E65C-43D942968B54}"/>
              </a:ext>
            </a:extLst>
          </p:cNvPr>
          <p:cNvPicPr>
            <a:picLocks noChangeAspect="1"/>
          </p:cNvPicPr>
          <p:nvPr/>
        </p:nvPicPr>
        <p:blipFill>
          <a:blip r:embed="rId7"/>
          <a:stretch>
            <a:fillRect/>
          </a:stretch>
        </p:blipFill>
        <p:spPr>
          <a:xfrm>
            <a:off x="3399395" y="2021673"/>
            <a:ext cx="2879066" cy="1915253"/>
          </a:xfrm>
          <a:prstGeom prst="rect">
            <a:avLst/>
          </a:prstGeom>
          <a:ln>
            <a:solidFill>
              <a:schemeClr val="accent1">
                <a:lumMod val="40000"/>
                <a:lumOff val="60000"/>
              </a:schemeClr>
            </a:solidFill>
          </a:ln>
        </p:spPr>
      </p:pic>
    </p:spTree>
    <p:extLst>
      <p:ext uri="{BB962C8B-B14F-4D97-AF65-F5344CB8AC3E}">
        <p14:creationId xmlns:p14="http://schemas.microsoft.com/office/powerpoint/2010/main" val="30583569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4"/>
          <p:cNvSpPr txBox="1">
            <a:spLocks noGrp="1"/>
          </p:cNvSpPr>
          <p:nvPr>
            <p:ph type="title"/>
          </p:nvPr>
        </p:nvSpPr>
        <p:spPr>
          <a:xfrm>
            <a:off x="872750" y="505325"/>
            <a:ext cx="3643800" cy="755700"/>
          </a:xfrm>
          <a:prstGeom prst="rect">
            <a:avLst/>
          </a:prstGeom>
        </p:spPr>
        <p:txBody>
          <a:bodyPr spcFirstLastPara="1" wrap="square" lIns="91425" tIns="91425" rIns="91425" bIns="91425" anchor="b" anchorCtr="0">
            <a:normAutofit fontScale="90000"/>
          </a:bodyPr>
          <a:lstStyle/>
          <a:p>
            <a:pPr marL="0" lvl="0" indent="0" algn="l" rtl="0">
              <a:spcBef>
                <a:spcPts val="0"/>
              </a:spcBef>
              <a:spcAft>
                <a:spcPts val="0"/>
              </a:spcAft>
              <a:buNone/>
            </a:pPr>
            <a:r>
              <a:rPr lang="en-GB" sz="2800" dirty="0"/>
              <a:t>INSIGHTS</a:t>
            </a:r>
            <a:endParaRPr sz="2800" dirty="0"/>
          </a:p>
          <a:p>
            <a:pPr marL="0" lvl="0" indent="0" algn="l" rtl="0">
              <a:spcBef>
                <a:spcPts val="0"/>
              </a:spcBef>
              <a:spcAft>
                <a:spcPts val="0"/>
              </a:spcAft>
              <a:buClr>
                <a:schemeClr val="dk1"/>
              </a:buClr>
              <a:buSzPts val="1100"/>
              <a:buFont typeface="Arial"/>
              <a:buNone/>
            </a:pPr>
            <a:r>
              <a:rPr lang="en-GB" sz="1333" dirty="0" err="1">
                <a:ea typeface="Georgia"/>
                <a:cs typeface="Georgia"/>
                <a:sym typeface="Georgia"/>
              </a:rPr>
              <a:t>GURUs’</a:t>
            </a:r>
            <a:r>
              <a:rPr lang="en-GB" sz="1333" dirty="0">
                <a:ea typeface="Georgia"/>
                <a:cs typeface="Georgia"/>
                <a:sym typeface="Georgia"/>
              </a:rPr>
              <a:t> performance</a:t>
            </a:r>
            <a:endParaRPr sz="1333" dirty="0">
              <a:ea typeface="Georgia"/>
              <a:cs typeface="Georgia"/>
              <a:sym typeface="Georgia"/>
            </a:endParaRPr>
          </a:p>
        </p:txBody>
      </p:sp>
      <p:graphicFrame>
        <p:nvGraphicFramePr>
          <p:cNvPr id="2" name="Diagram 1">
            <a:extLst>
              <a:ext uri="{FF2B5EF4-FFF2-40B4-BE49-F238E27FC236}">
                <a16:creationId xmlns:a16="http://schemas.microsoft.com/office/drawing/2014/main" id="{349815F0-1B9B-9528-F244-45A446F49BEF}"/>
              </a:ext>
            </a:extLst>
          </p:cNvPr>
          <p:cNvGraphicFramePr/>
          <p:nvPr>
            <p:extLst>
              <p:ext uri="{D42A27DB-BD31-4B8C-83A1-F6EECF244321}">
                <p14:modId xmlns:p14="http://schemas.microsoft.com/office/powerpoint/2010/main" val="1974817877"/>
              </p:ext>
            </p:extLst>
          </p:nvPr>
        </p:nvGraphicFramePr>
        <p:xfrm>
          <a:off x="311700" y="1389600"/>
          <a:ext cx="4100400" cy="34593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Picture 5">
            <a:extLst>
              <a:ext uri="{FF2B5EF4-FFF2-40B4-BE49-F238E27FC236}">
                <a16:creationId xmlns:a16="http://schemas.microsoft.com/office/drawing/2014/main" id="{196EA514-35D5-E0FA-8134-303E2752C8B6}"/>
              </a:ext>
            </a:extLst>
          </p:cNvPr>
          <p:cNvPicPr>
            <a:picLocks noChangeAspect="1"/>
          </p:cNvPicPr>
          <p:nvPr/>
        </p:nvPicPr>
        <p:blipFill>
          <a:blip r:embed="rId8"/>
          <a:stretch>
            <a:fillRect/>
          </a:stretch>
        </p:blipFill>
        <p:spPr>
          <a:xfrm>
            <a:off x="4745204" y="292368"/>
            <a:ext cx="4067316" cy="2279382"/>
          </a:xfrm>
          <a:prstGeom prst="rect">
            <a:avLst/>
          </a:prstGeom>
          <a:ln>
            <a:solidFill>
              <a:schemeClr val="accent1">
                <a:lumMod val="40000"/>
                <a:lumOff val="60000"/>
              </a:schemeClr>
            </a:solidFill>
          </a:ln>
        </p:spPr>
      </p:pic>
      <p:pic>
        <p:nvPicPr>
          <p:cNvPr id="8" name="Picture 7">
            <a:extLst>
              <a:ext uri="{FF2B5EF4-FFF2-40B4-BE49-F238E27FC236}">
                <a16:creationId xmlns:a16="http://schemas.microsoft.com/office/drawing/2014/main" id="{D1989EE7-0857-FACB-7B11-5294EBF7C7AF}"/>
              </a:ext>
            </a:extLst>
          </p:cNvPr>
          <p:cNvPicPr>
            <a:picLocks noChangeAspect="1"/>
          </p:cNvPicPr>
          <p:nvPr/>
        </p:nvPicPr>
        <p:blipFill>
          <a:blip r:embed="rId9"/>
          <a:stretch>
            <a:fillRect/>
          </a:stretch>
        </p:blipFill>
        <p:spPr>
          <a:xfrm>
            <a:off x="4731902" y="2796401"/>
            <a:ext cx="4080618" cy="1997737"/>
          </a:xfrm>
          <a:prstGeom prst="rect">
            <a:avLst/>
          </a:prstGeom>
          <a:ln>
            <a:solidFill>
              <a:schemeClr val="accent1">
                <a:lumMod val="40000"/>
                <a:lumOff val="60000"/>
              </a:schemeClr>
            </a:solid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6"/>
          <p:cNvSpPr txBox="1">
            <a:spLocks noGrp="1"/>
          </p:cNvSpPr>
          <p:nvPr>
            <p:ph type="title"/>
          </p:nvPr>
        </p:nvSpPr>
        <p:spPr>
          <a:xfrm>
            <a:off x="311700" y="128425"/>
            <a:ext cx="3577500" cy="7557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GB" sz="2800" dirty="0"/>
              <a:t>RECOMMENDATIONS</a:t>
            </a:r>
          </a:p>
        </p:txBody>
      </p:sp>
      <p:graphicFrame>
        <p:nvGraphicFramePr>
          <p:cNvPr id="2" name="Diagram 1">
            <a:extLst>
              <a:ext uri="{FF2B5EF4-FFF2-40B4-BE49-F238E27FC236}">
                <a16:creationId xmlns:a16="http://schemas.microsoft.com/office/drawing/2014/main" id="{1DEAC612-917C-B5BC-B8D2-8FEA30061FED}"/>
              </a:ext>
            </a:extLst>
          </p:cNvPr>
          <p:cNvGraphicFramePr/>
          <p:nvPr>
            <p:extLst>
              <p:ext uri="{D42A27DB-BD31-4B8C-83A1-F6EECF244321}">
                <p14:modId xmlns:p14="http://schemas.microsoft.com/office/powerpoint/2010/main" val="2032880724"/>
              </p:ext>
            </p:extLst>
          </p:nvPr>
        </p:nvGraphicFramePr>
        <p:xfrm>
          <a:off x="259357" y="844573"/>
          <a:ext cx="8605617" cy="40898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9"/>
          <p:cNvSpPr txBox="1">
            <a:spLocks noGrp="1"/>
          </p:cNvSpPr>
          <p:nvPr>
            <p:ph type="title"/>
          </p:nvPr>
        </p:nvSpPr>
        <p:spPr>
          <a:xfrm>
            <a:off x="3302781" y="0"/>
            <a:ext cx="2213874" cy="45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ct val="44594"/>
              <a:buNone/>
            </a:pPr>
            <a:r>
              <a:rPr lang="en-GB" sz="2800" dirty="0"/>
              <a:t>DASHBOARD</a:t>
            </a:r>
            <a:endParaRPr sz="2800" dirty="0"/>
          </a:p>
        </p:txBody>
      </p:sp>
      <p:pic>
        <p:nvPicPr>
          <p:cNvPr id="3" name="Picture 2">
            <a:extLst>
              <a:ext uri="{FF2B5EF4-FFF2-40B4-BE49-F238E27FC236}">
                <a16:creationId xmlns:a16="http://schemas.microsoft.com/office/drawing/2014/main" id="{EC61915F-530C-0A75-DE83-AB87E3087D20}"/>
              </a:ext>
            </a:extLst>
          </p:cNvPr>
          <p:cNvPicPr>
            <a:picLocks noChangeAspect="1"/>
          </p:cNvPicPr>
          <p:nvPr/>
        </p:nvPicPr>
        <p:blipFill>
          <a:blip r:embed="rId3"/>
          <a:stretch>
            <a:fillRect/>
          </a:stretch>
        </p:blipFill>
        <p:spPr>
          <a:xfrm>
            <a:off x="495083" y="572404"/>
            <a:ext cx="8201863" cy="433097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72"/>
        <p:cNvGrpSpPr/>
        <p:nvPr/>
      </p:nvGrpSpPr>
      <p:grpSpPr>
        <a:xfrm>
          <a:off x="0" y="0"/>
          <a:ext cx="0" cy="0"/>
          <a:chOff x="0" y="0"/>
          <a:chExt cx="0" cy="0"/>
        </a:xfrm>
      </p:grpSpPr>
      <p:grpSp>
        <p:nvGrpSpPr>
          <p:cNvPr id="195" name="Group 194">
            <a:extLst>
              <a:ext uri="{FF2B5EF4-FFF2-40B4-BE49-F238E27FC236}">
                <a16:creationId xmlns:a16="http://schemas.microsoft.com/office/drawing/2014/main" id="{D6280969-F024-466D-A1DB-4F848C51DE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6350"/>
            <a:ext cx="9144001" cy="5149850"/>
            <a:chOff x="0" y="-8467"/>
            <a:chExt cx="12192000" cy="6866467"/>
          </a:xfrm>
        </p:grpSpPr>
        <p:cxnSp>
          <p:nvCxnSpPr>
            <p:cNvPr id="196" name="Straight Connector 195">
              <a:extLst>
                <a:ext uri="{FF2B5EF4-FFF2-40B4-BE49-F238E27FC236}">
                  <a16:creationId xmlns:a16="http://schemas.microsoft.com/office/drawing/2014/main" id="{63FDD802-E6D8-4979-A1B9-BA705AE4DA8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97" name="Straight Connector 196">
              <a:extLst>
                <a:ext uri="{FF2B5EF4-FFF2-40B4-BE49-F238E27FC236}">
                  <a16:creationId xmlns:a16="http://schemas.microsoft.com/office/drawing/2014/main" id="{BDE509DD-4B76-45F0-8144-02F1D7E1AE0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98" name="Rectangle 23">
              <a:extLst>
                <a:ext uri="{FF2B5EF4-FFF2-40B4-BE49-F238E27FC236}">
                  <a16:creationId xmlns:a16="http://schemas.microsoft.com/office/drawing/2014/main" id="{FEAEFD53-0220-48B1-9EA8-3EAE151E84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9" name="Rectangle 25">
              <a:extLst>
                <a:ext uri="{FF2B5EF4-FFF2-40B4-BE49-F238E27FC236}">
                  <a16:creationId xmlns:a16="http://schemas.microsoft.com/office/drawing/2014/main" id="{92E7FABD-916D-4FF9-B5F3-44E53AFD39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00" name="Isosceles Triangle 199">
              <a:extLst>
                <a:ext uri="{FF2B5EF4-FFF2-40B4-BE49-F238E27FC236}">
                  <a16:creationId xmlns:a16="http://schemas.microsoft.com/office/drawing/2014/main" id="{826F9772-AEFE-4C6D-82B6-1207069B86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01" name="Rectangle 27">
              <a:extLst>
                <a:ext uri="{FF2B5EF4-FFF2-40B4-BE49-F238E27FC236}">
                  <a16:creationId xmlns:a16="http://schemas.microsoft.com/office/drawing/2014/main" id="{ACFBF3A9-B76A-4B4B-B6D7-CA4651F5C9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02" name="Rectangle 28">
              <a:extLst>
                <a:ext uri="{FF2B5EF4-FFF2-40B4-BE49-F238E27FC236}">
                  <a16:creationId xmlns:a16="http://schemas.microsoft.com/office/drawing/2014/main" id="{BF0FAA0A-B682-4A83-BDD8-BCE0AB41C2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03" name="Rectangle 29">
              <a:extLst>
                <a:ext uri="{FF2B5EF4-FFF2-40B4-BE49-F238E27FC236}">
                  <a16:creationId xmlns:a16="http://schemas.microsoft.com/office/drawing/2014/main" id="{7874A013-E5E2-4AE1-8E93-029A2B41EB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04" name="Isosceles Triangle 203">
              <a:extLst>
                <a:ext uri="{FF2B5EF4-FFF2-40B4-BE49-F238E27FC236}">
                  <a16:creationId xmlns:a16="http://schemas.microsoft.com/office/drawing/2014/main" id="{4355329E-E608-4F7A-B4EF-8FEF07D755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05" name="Isosceles Triangle 204">
              <a:extLst>
                <a:ext uri="{FF2B5EF4-FFF2-40B4-BE49-F238E27FC236}">
                  <a16:creationId xmlns:a16="http://schemas.microsoft.com/office/drawing/2014/main" id="{53D9BFDF-B250-44FF-9BD7-C204EFBFC1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173" name="Google Shape;173;p30"/>
          <p:cNvSpPr txBox="1">
            <a:spLocks noGrp="1"/>
          </p:cNvSpPr>
          <p:nvPr>
            <p:ph type="title"/>
          </p:nvPr>
        </p:nvSpPr>
        <p:spPr>
          <a:xfrm>
            <a:off x="507559" y="457200"/>
            <a:ext cx="2796807" cy="990600"/>
          </a:xfrm>
          <a:prstGeom prst="rect">
            <a:avLst/>
          </a:prstGeom>
        </p:spPr>
        <p:txBody>
          <a:bodyPr spcFirstLastPara="1" vert="horz" lIns="91440" tIns="45720" rIns="91440" bIns="45720" rtlCol="0" anchor="ctr" anchorCtr="0">
            <a:normAutofit/>
          </a:bodyPr>
          <a:lstStyle/>
          <a:p>
            <a:pPr marL="0" lvl="0" indent="0" defTabSz="457200">
              <a:spcBef>
                <a:spcPct val="0"/>
              </a:spcBef>
              <a:spcAft>
                <a:spcPts val="0"/>
              </a:spcAft>
            </a:pPr>
            <a:r>
              <a:rPr lang="en-US" sz="3300"/>
              <a:t>CONCLUSION</a:t>
            </a:r>
          </a:p>
        </p:txBody>
      </p:sp>
      <p:sp>
        <p:nvSpPr>
          <p:cNvPr id="174" name="Google Shape;174;p30"/>
          <p:cNvSpPr txBox="1">
            <a:spLocks noGrp="1"/>
          </p:cNvSpPr>
          <p:nvPr>
            <p:ph type="body" idx="1"/>
          </p:nvPr>
        </p:nvSpPr>
        <p:spPr>
          <a:xfrm>
            <a:off x="513875" y="1620441"/>
            <a:ext cx="2790687" cy="2670550"/>
          </a:xfrm>
          <a:prstGeom prst="rect">
            <a:avLst/>
          </a:prstGeom>
        </p:spPr>
        <p:txBody>
          <a:bodyPr spcFirstLastPara="1" vert="horz" lIns="91440" tIns="45720" rIns="91440" bIns="45720" rtlCol="0" anchorCtr="0">
            <a:normAutofit/>
          </a:bodyPr>
          <a:lstStyle/>
          <a:p>
            <a:pPr marL="0" lvl="0" indent="0" defTabSz="457200">
              <a:lnSpc>
                <a:spcPct val="90000"/>
              </a:lnSpc>
              <a:spcBef>
                <a:spcPts val="1000"/>
              </a:spcBef>
              <a:buSzPct val="80000"/>
              <a:buNone/>
            </a:pPr>
            <a:r>
              <a:rPr lang="en-US" sz="900" dirty="0"/>
              <a:t>The dashboard gives a complete picture of how well the call center is performing by connecting customer interactions, how efficiently agents are working, and how much revenue is being generated. The insights show that when agents are overworked, it hurts customer satisfaction, which means it's important to balance the tasks they're given and improve staffing during busy times. Differences in how well agents perform suggest there's room for better training and sharing of knowledge. Since most of the revenue comes from call consultations, making call handling more efficient through better training, managing workload smarter, and using automation can improve service quality, make operations run smoother, and support the company's growth in the long run.</a:t>
            </a:r>
          </a:p>
        </p:txBody>
      </p:sp>
      <p:pic>
        <p:nvPicPr>
          <p:cNvPr id="175" name="Google Shape;175;p30"/>
          <p:cNvPicPr preferRelativeResize="0"/>
          <p:nvPr/>
        </p:nvPicPr>
        <p:blipFill>
          <a:blip r:embed="rId3"/>
          <a:srcRect l="9502" r="9496" b="-6"/>
          <a:stretch>
            <a:fillRect/>
          </a:stretch>
        </p:blipFill>
        <p:spPr>
          <a:xfrm>
            <a:off x="3670772" y="474108"/>
            <a:ext cx="3091567" cy="3816884"/>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5AFB369-4673-4727-A7CD-D86AFE0AE06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6350"/>
            <a:ext cx="9144000" cy="5149850"/>
            <a:chOff x="0" y="-8467"/>
            <a:chExt cx="12192000" cy="6866467"/>
          </a:xfrm>
        </p:grpSpPr>
        <p:sp>
          <p:nvSpPr>
            <p:cNvPr id="10" name="Freeform 14">
              <a:extLst>
                <a:ext uri="{FF2B5EF4-FFF2-40B4-BE49-F238E27FC236}">
                  <a16:creationId xmlns:a16="http://schemas.microsoft.com/office/drawing/2014/main" id="{50709826-4D6B-4A97-8DB3-5DA1666262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cxnSp>
          <p:nvCxnSpPr>
            <p:cNvPr id="11" name="Straight Connector 10">
              <a:extLst>
                <a:ext uri="{FF2B5EF4-FFF2-40B4-BE49-F238E27FC236}">
                  <a16:creationId xmlns:a16="http://schemas.microsoft.com/office/drawing/2014/main" id="{47263F58-6EE6-45B3-9BF2-C0BD5D30A55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5197CE03-EB81-4718-BEA1-C2D488961E5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A3451629-72D6-4E33-A99A-40FAF7445D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4" name="Rectangle 25">
              <a:extLst>
                <a:ext uri="{FF2B5EF4-FFF2-40B4-BE49-F238E27FC236}">
                  <a16:creationId xmlns:a16="http://schemas.microsoft.com/office/drawing/2014/main" id="{E04F0FD4-BCD5-4435-A6B5-A2E69303B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5" name="Isosceles Triangle 14">
              <a:extLst>
                <a:ext uri="{FF2B5EF4-FFF2-40B4-BE49-F238E27FC236}">
                  <a16:creationId xmlns:a16="http://schemas.microsoft.com/office/drawing/2014/main" id="{DE110F09-1C81-4E73-B5E9-D857CD879F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6" name="Rectangle 27">
              <a:extLst>
                <a:ext uri="{FF2B5EF4-FFF2-40B4-BE49-F238E27FC236}">
                  <a16:creationId xmlns:a16="http://schemas.microsoft.com/office/drawing/2014/main" id="{273A9C01-06BD-4E8E-8BBF-2E2A9ECF49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7" name="Rectangle 28">
              <a:extLst>
                <a:ext uri="{FF2B5EF4-FFF2-40B4-BE49-F238E27FC236}">
                  <a16:creationId xmlns:a16="http://schemas.microsoft.com/office/drawing/2014/main" id="{B206C9B2-27BE-4B6F-A4D0-485FBBEB58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8" name="Rectangle 29">
              <a:extLst>
                <a:ext uri="{FF2B5EF4-FFF2-40B4-BE49-F238E27FC236}">
                  <a16:creationId xmlns:a16="http://schemas.microsoft.com/office/drawing/2014/main" id="{2E7D673E-0C5C-4F2B-B46E-3E9286B9E8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a:extLst>
                <a:ext uri="{FF2B5EF4-FFF2-40B4-BE49-F238E27FC236}">
                  <a16:creationId xmlns:a16="http://schemas.microsoft.com/office/drawing/2014/main" id="{F0F78B34-9B26-4CA9-B8F0-B9638730F9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pic>
        <p:nvPicPr>
          <p:cNvPr id="4" name="Picture 3" descr="Aerial view of a highway near the ocean">
            <a:extLst>
              <a:ext uri="{FF2B5EF4-FFF2-40B4-BE49-F238E27FC236}">
                <a16:creationId xmlns:a16="http://schemas.microsoft.com/office/drawing/2014/main" id="{65EADFC6-A305-BF48-F3A0-B65A4AC61E12}"/>
              </a:ext>
            </a:extLst>
          </p:cNvPr>
          <p:cNvPicPr>
            <a:picLocks noChangeAspect="1"/>
          </p:cNvPicPr>
          <p:nvPr/>
        </p:nvPicPr>
        <p:blipFill>
          <a:blip r:embed="rId2"/>
          <a:srcRect l="9091" t="9945" b="21874"/>
          <a:stretch>
            <a:fillRect/>
          </a:stretch>
        </p:blipFill>
        <p:spPr>
          <a:xfrm>
            <a:off x="20" y="10"/>
            <a:ext cx="9143980" cy="5143490"/>
          </a:xfrm>
          <a:prstGeom prst="rect">
            <a:avLst/>
          </a:prstGeom>
        </p:spPr>
      </p:pic>
      <p:sp>
        <p:nvSpPr>
          <p:cNvPr id="21" name="Isosceles Triangle 20">
            <a:extLst>
              <a:ext uri="{FF2B5EF4-FFF2-40B4-BE49-F238E27FC236}">
                <a16:creationId xmlns:a16="http://schemas.microsoft.com/office/drawing/2014/main" id="{0FF9F10B-8764-4B6C-9EBC-4FBE9AC1AC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4249615"/>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Parallelogram 22">
            <a:extLst>
              <a:ext uri="{FF2B5EF4-FFF2-40B4-BE49-F238E27FC236}">
                <a16:creationId xmlns:a16="http://schemas.microsoft.com/office/drawing/2014/main" id="{4DC5F81A-AB66-427C-B973-546BE1B7E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63405" y="0"/>
            <a:ext cx="5486400" cy="5143500"/>
          </a:xfrm>
          <a:prstGeom prst="parallelogram">
            <a:avLst>
              <a:gd name="adj" fmla="val 14937"/>
            </a:avLst>
          </a:prstGeom>
          <a:solidFill>
            <a:schemeClr val="bg1">
              <a:alpha val="9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5" name="Straight Connector 24">
            <a:extLst>
              <a:ext uri="{FF2B5EF4-FFF2-40B4-BE49-F238E27FC236}">
                <a16:creationId xmlns:a16="http://schemas.microsoft.com/office/drawing/2014/main" id="{2146C810-9BC7-4BEB-A44C-B70C5B3DC9D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51435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F5ADF6C1-FC3E-4CEF-ACAA-1E533A92794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2761059"/>
            <a:ext cx="3572668" cy="2382441"/>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9" name="Rectangle 23">
            <a:extLst>
              <a:ext uri="{FF2B5EF4-FFF2-40B4-BE49-F238E27FC236}">
                <a16:creationId xmlns:a16="http://schemas.microsoft.com/office/drawing/2014/main" id="{BE11B7D3-FC4D-4157-827F-D418D4AF3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6350"/>
            <a:ext cx="2255511" cy="5149850"/>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Rectangle 25">
            <a:extLst>
              <a:ext uri="{FF2B5EF4-FFF2-40B4-BE49-F238E27FC236}">
                <a16:creationId xmlns:a16="http://schemas.microsoft.com/office/drawing/2014/main" id="{F9CA2FB3-69C5-4A17-880A-34C260DF3C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6350"/>
            <a:ext cx="1941419" cy="5149850"/>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3" name="Isosceles Triangle 32">
            <a:extLst>
              <a:ext uri="{FF2B5EF4-FFF2-40B4-BE49-F238E27FC236}">
                <a16:creationId xmlns:a16="http://schemas.microsoft.com/office/drawing/2014/main" id="{A3B42260-CA72-429A-AEFF-A2778C7BC6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2286000"/>
            <a:ext cx="2444751" cy="28575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7ECF066E-4538-9BC1-093E-863FE9D678D0}"/>
              </a:ext>
            </a:extLst>
          </p:cNvPr>
          <p:cNvSpPr>
            <a:spLocks noGrp="1"/>
          </p:cNvSpPr>
          <p:nvPr>
            <p:ph type="title"/>
          </p:nvPr>
        </p:nvSpPr>
        <p:spPr>
          <a:xfrm>
            <a:off x="3528150" y="1258998"/>
            <a:ext cx="3427352" cy="1776849"/>
          </a:xfrm>
        </p:spPr>
        <p:txBody>
          <a:bodyPr vert="horz" lIns="91440" tIns="45720" rIns="91440" bIns="45720" rtlCol="0" anchor="b">
            <a:normAutofit/>
          </a:bodyPr>
          <a:lstStyle/>
          <a:p>
            <a:pPr algn="r" defTabSz="457200">
              <a:spcBef>
                <a:spcPct val="0"/>
              </a:spcBef>
            </a:pPr>
            <a:r>
              <a:rPr lang="en-US" sz="5400"/>
              <a:t>THANK YOU</a:t>
            </a:r>
          </a:p>
        </p:txBody>
      </p:sp>
      <p:sp>
        <p:nvSpPr>
          <p:cNvPr id="35" name="Rectangle 27">
            <a:extLst>
              <a:ext uri="{FF2B5EF4-FFF2-40B4-BE49-F238E27FC236}">
                <a16:creationId xmlns:a16="http://schemas.microsoft.com/office/drawing/2014/main" id="{C29C3C96-CB51-440C-B12F-E880D73862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6350"/>
            <a:ext cx="2140744" cy="5149850"/>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7" name="Rectangle 28">
            <a:extLst>
              <a:ext uri="{FF2B5EF4-FFF2-40B4-BE49-F238E27FC236}">
                <a16:creationId xmlns:a16="http://schemas.microsoft.com/office/drawing/2014/main" id="{17070EE5-FA55-4C41-AD18-785E5F0234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6350"/>
            <a:ext cx="967571" cy="5149850"/>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9" name="Rectangle 29">
            <a:extLst>
              <a:ext uri="{FF2B5EF4-FFF2-40B4-BE49-F238E27FC236}">
                <a16:creationId xmlns:a16="http://schemas.microsoft.com/office/drawing/2014/main" id="{726DD974-2DC0-457D-B797-BFB5EB6F43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6350"/>
            <a:ext cx="937369" cy="5149850"/>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1" name="Isosceles Triangle 40">
            <a:extLst>
              <a:ext uri="{FF2B5EF4-FFF2-40B4-BE49-F238E27FC236}">
                <a16:creationId xmlns:a16="http://schemas.microsoft.com/office/drawing/2014/main" id="{EF9AFB1C-D978-4634-9E2D-78B7F70F52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2692400"/>
            <a:ext cx="1362869" cy="2451100"/>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451650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418</TotalTime>
  <Words>1578</Words>
  <Application>Microsoft Office PowerPoint</Application>
  <PresentationFormat>On-screen Show (16:9)</PresentationFormat>
  <Paragraphs>60</Paragraphs>
  <Slides>16</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Georgia</vt:lpstr>
      <vt:lpstr>Trebuchet MS</vt:lpstr>
      <vt:lpstr>Wingdings 3</vt:lpstr>
      <vt:lpstr>Facet</vt:lpstr>
      <vt:lpstr>ASTROSAGE ANALYSIS                            - Sathya Narayan G</vt:lpstr>
      <vt:lpstr>ASTROSAGE</vt:lpstr>
      <vt:lpstr>PowerPoint Presentation</vt:lpstr>
      <vt:lpstr>Problem Statement  AstroSage has received a 1 crore investment and aims to optimize its call center operations. The goal is to determine how to allocate this investment to maximize operational efficiency, customer satisfaction, and profitability. The analysis will consider historical call data, performance metrics, and market trends to make informed decisions.  </vt:lpstr>
      <vt:lpstr>ABOUT THE DATASET</vt:lpstr>
      <vt:lpstr>METHODOLOGY</vt:lpstr>
      <vt:lpstr>INSIGHT Average customer ratings for Gurus</vt:lpstr>
      <vt:lpstr>INSIGHT Amount generated through each category</vt:lpstr>
      <vt:lpstr>INSIGHTS Website performance and reliability</vt:lpstr>
      <vt:lpstr>INSIGHT Hourly basis volume</vt:lpstr>
      <vt:lpstr>INSIGHT Platform performance</vt:lpstr>
      <vt:lpstr>INSIGHTS GURUs’ performance</vt:lpstr>
      <vt:lpstr>RECOMMENDATIONS</vt:lpstr>
      <vt:lpstr>DASHBOARD</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Sathya Narayan</dc:creator>
  <cp:lastModifiedBy>Sathya Narayan</cp:lastModifiedBy>
  <cp:revision>10</cp:revision>
  <dcterms:modified xsi:type="dcterms:W3CDTF">2026-04-10T17:05:33Z</dcterms:modified>
</cp:coreProperties>
</file>